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27486" y="1028700"/>
            <a:ext cx="7800563" cy="703478"/>
          </a:xfrm>
          <a:custGeom>
            <a:avLst/>
            <a:gdLst/>
            <a:ahLst/>
            <a:cxnLst/>
            <a:rect r="r" b="b" t="t" l="l"/>
            <a:pathLst>
              <a:path h="703478" w="7800563">
                <a:moveTo>
                  <a:pt x="0" y="0"/>
                </a:moveTo>
                <a:lnTo>
                  <a:pt x="7800563" y="0"/>
                </a:lnTo>
                <a:lnTo>
                  <a:pt x="7800563" y="703478"/>
                </a:lnTo>
                <a:lnTo>
                  <a:pt x="0" y="703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89575" y="1028700"/>
            <a:ext cx="7800563" cy="703478"/>
          </a:xfrm>
          <a:custGeom>
            <a:avLst/>
            <a:gdLst/>
            <a:ahLst/>
            <a:cxnLst/>
            <a:rect r="r" b="b" t="t" l="l"/>
            <a:pathLst>
              <a:path h="703478" w="7800563">
                <a:moveTo>
                  <a:pt x="0" y="0"/>
                </a:moveTo>
                <a:lnTo>
                  <a:pt x="7800562" y="0"/>
                </a:lnTo>
                <a:lnTo>
                  <a:pt x="7800562" y="703478"/>
                </a:lnTo>
                <a:lnTo>
                  <a:pt x="0" y="703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01493" y="2805771"/>
            <a:ext cx="4810327" cy="5300930"/>
            <a:chOff x="0" y="0"/>
            <a:chExt cx="5762305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63575" cy="6350000"/>
            </a:xfrm>
            <a:custGeom>
              <a:avLst/>
              <a:gdLst/>
              <a:ahLst/>
              <a:cxnLst/>
              <a:rect r="r" b="b" t="t" l="l"/>
              <a:pathLst>
                <a:path h="6350000" w="5763575">
                  <a:moveTo>
                    <a:pt x="5431549" y="0"/>
                  </a:moveTo>
                  <a:lnTo>
                    <a:pt x="330756" y="0"/>
                  </a:lnTo>
                  <a:cubicBezTo>
                    <a:pt x="147515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47515" y="6350000"/>
                    <a:pt x="330756" y="6350000"/>
                  </a:cubicBezTo>
                  <a:lnTo>
                    <a:pt x="5432702" y="6350000"/>
                  </a:lnTo>
                  <a:cubicBezTo>
                    <a:pt x="5614791" y="6350000"/>
                    <a:pt x="5763575" y="6187440"/>
                    <a:pt x="5763575" y="5985510"/>
                  </a:cubicBezTo>
                  <a:lnTo>
                    <a:pt x="5763575" y="364490"/>
                  </a:lnTo>
                  <a:cubicBezTo>
                    <a:pt x="5762305" y="162560"/>
                    <a:pt x="5614791" y="0"/>
                    <a:pt x="543154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509" r="0" b="-85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3348" y="-877845"/>
            <a:ext cx="2579524" cy="3491020"/>
            <a:chOff x="0" y="0"/>
            <a:chExt cx="660400" cy="893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893758"/>
            </a:xfrm>
            <a:custGeom>
              <a:avLst/>
              <a:gdLst/>
              <a:ahLst/>
              <a:cxnLst/>
              <a:rect r="r" b="b" t="t" l="l"/>
              <a:pathLst>
                <a:path h="893758" w="660400">
                  <a:moveTo>
                    <a:pt x="220252" y="874688"/>
                  </a:moveTo>
                  <a:cubicBezTo>
                    <a:pt x="254109" y="886202"/>
                    <a:pt x="292600" y="893758"/>
                    <a:pt x="330378" y="893758"/>
                  </a:cubicBezTo>
                  <a:cubicBezTo>
                    <a:pt x="368157" y="893758"/>
                    <a:pt x="404509" y="887281"/>
                    <a:pt x="438009" y="875767"/>
                  </a:cubicBezTo>
                  <a:cubicBezTo>
                    <a:pt x="438723" y="875407"/>
                    <a:pt x="439435" y="875407"/>
                    <a:pt x="440148" y="875048"/>
                  </a:cubicBezTo>
                  <a:cubicBezTo>
                    <a:pt x="565955" y="828993"/>
                    <a:pt x="658618" y="707379"/>
                    <a:pt x="660400" y="5634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63039"/>
                  </a:lnTo>
                  <a:cubicBezTo>
                    <a:pt x="1782" y="708097"/>
                    <a:pt x="93019" y="829713"/>
                    <a:pt x="220252" y="874688"/>
                  </a:cubicBezTo>
                  <a:close/>
                </a:path>
              </a:pathLst>
            </a:custGeom>
            <a:solidFill>
              <a:srgbClr val="F9B41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60400" cy="795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145103" y="329243"/>
            <a:ext cx="1096015" cy="699457"/>
          </a:xfrm>
          <a:custGeom>
            <a:avLst/>
            <a:gdLst/>
            <a:ahLst/>
            <a:cxnLst/>
            <a:rect r="r" b="b" t="t" l="l"/>
            <a:pathLst>
              <a:path h="699457" w="1096015">
                <a:moveTo>
                  <a:pt x="0" y="0"/>
                </a:moveTo>
                <a:lnTo>
                  <a:pt x="1096015" y="0"/>
                </a:lnTo>
                <a:lnTo>
                  <a:pt x="1096015" y="699457"/>
                </a:lnTo>
                <a:lnTo>
                  <a:pt x="0" y="699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42775" y="867665"/>
            <a:ext cx="5280075" cy="965810"/>
            <a:chOff x="0" y="0"/>
            <a:chExt cx="1080009" cy="197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0009" cy="197551"/>
            </a:xfrm>
            <a:custGeom>
              <a:avLst/>
              <a:gdLst/>
              <a:ahLst/>
              <a:cxnLst/>
              <a:rect r="r" b="b" t="t" l="l"/>
              <a:pathLst>
                <a:path h="197551" w="1080009">
                  <a:moveTo>
                    <a:pt x="20528" y="0"/>
                  </a:moveTo>
                  <a:lnTo>
                    <a:pt x="1059482" y="0"/>
                  </a:lnTo>
                  <a:cubicBezTo>
                    <a:pt x="1064926" y="0"/>
                    <a:pt x="1070147" y="2163"/>
                    <a:pt x="1073997" y="6012"/>
                  </a:cubicBezTo>
                  <a:cubicBezTo>
                    <a:pt x="1077846" y="9862"/>
                    <a:pt x="1080009" y="15083"/>
                    <a:pt x="1080009" y="20528"/>
                  </a:cubicBezTo>
                  <a:lnTo>
                    <a:pt x="1080009" y="177023"/>
                  </a:lnTo>
                  <a:cubicBezTo>
                    <a:pt x="1080009" y="182468"/>
                    <a:pt x="1077846" y="187689"/>
                    <a:pt x="1073997" y="191538"/>
                  </a:cubicBezTo>
                  <a:cubicBezTo>
                    <a:pt x="1070147" y="195388"/>
                    <a:pt x="1064926" y="197551"/>
                    <a:pt x="1059482" y="197551"/>
                  </a:cubicBezTo>
                  <a:lnTo>
                    <a:pt x="20528" y="197551"/>
                  </a:lnTo>
                  <a:cubicBezTo>
                    <a:pt x="15083" y="197551"/>
                    <a:pt x="9862" y="195388"/>
                    <a:pt x="6012" y="191538"/>
                  </a:cubicBezTo>
                  <a:cubicBezTo>
                    <a:pt x="2163" y="187689"/>
                    <a:pt x="0" y="182468"/>
                    <a:pt x="0" y="177023"/>
                  </a:cubicBezTo>
                  <a:lnTo>
                    <a:pt x="0" y="20528"/>
                  </a:lnTo>
                  <a:cubicBezTo>
                    <a:pt x="0" y="15083"/>
                    <a:pt x="2163" y="9862"/>
                    <a:pt x="6012" y="6012"/>
                  </a:cubicBezTo>
                  <a:cubicBezTo>
                    <a:pt x="9862" y="2163"/>
                    <a:pt x="15083" y="0"/>
                    <a:pt x="20528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80009" cy="254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spc="32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NUESTRA PROPUESTA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292633" y="8299298"/>
            <a:ext cx="4795008" cy="1918003"/>
          </a:xfrm>
          <a:custGeom>
            <a:avLst/>
            <a:gdLst/>
            <a:ahLst/>
            <a:cxnLst/>
            <a:rect r="r" b="b" t="t" l="l"/>
            <a:pathLst>
              <a:path h="1918003" w="4795008">
                <a:moveTo>
                  <a:pt x="0" y="0"/>
                </a:moveTo>
                <a:lnTo>
                  <a:pt x="4795008" y="0"/>
                </a:lnTo>
                <a:lnTo>
                  <a:pt x="4795008" y="1918004"/>
                </a:lnTo>
                <a:lnTo>
                  <a:pt x="0" y="19180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62948" y="2216777"/>
            <a:ext cx="7804015" cy="452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7"/>
              </a:lnSpc>
            </a:pPr>
            <a:r>
              <a:rPr lang="en-US" sz="9399">
                <a:solidFill>
                  <a:srgbClr val="022137"/>
                </a:solidFill>
                <a:latin typeface="Garet"/>
                <a:ea typeface="Garet"/>
                <a:cs typeface="Garet"/>
                <a:sym typeface="Garet"/>
              </a:rPr>
              <a:t>Reservas Hospedaje Rural Pirque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84405" y="1337005"/>
            <a:ext cx="2211464" cy="39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2509" spc="21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PIRQUE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948" y="7145664"/>
            <a:ext cx="7239728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DOCENTE: MALLÉN GONZALEZ</a:t>
            </a:r>
          </a:p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INTEGRANTES:</a:t>
            </a:r>
          </a:p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EZEQUEL LORCA</a:t>
            </a:r>
          </a:p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MARTIN PONCE</a:t>
            </a:r>
          </a:p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JOSE VARELA</a:t>
            </a:r>
          </a:p>
          <a:p>
            <a:pPr algn="l">
              <a:lnSpc>
                <a:spcPts val="3499"/>
              </a:lnSpc>
            </a:pPr>
            <a:r>
              <a:rPr lang="en-US" sz="2499" spc="432">
                <a:solidFill>
                  <a:srgbClr val="012138"/>
                </a:solidFill>
                <a:latin typeface="Garet"/>
                <a:ea typeface="Garet"/>
                <a:cs typeface="Garet"/>
                <a:sym typeface="Garet"/>
              </a:rPr>
              <a:t>FECHA: 10-09-2026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3447" y="3293466"/>
            <a:ext cx="6935909" cy="4728110"/>
            <a:chOff x="0" y="0"/>
            <a:chExt cx="11611039" cy="791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11039" cy="7915080"/>
            </a:xfrm>
            <a:custGeom>
              <a:avLst/>
              <a:gdLst/>
              <a:ahLst/>
              <a:cxnLst/>
              <a:rect r="r" b="b" t="t" l="l"/>
              <a:pathLst>
                <a:path h="7915080" w="11611039">
                  <a:moveTo>
                    <a:pt x="11353274" y="0"/>
                  </a:moveTo>
                  <a:lnTo>
                    <a:pt x="257765" y="0"/>
                  </a:lnTo>
                  <a:cubicBezTo>
                    <a:pt x="116110" y="0"/>
                    <a:pt x="0" y="147861"/>
                    <a:pt x="0" y="328915"/>
                  </a:cubicBezTo>
                  <a:lnTo>
                    <a:pt x="0" y="7586166"/>
                  </a:lnTo>
                  <a:cubicBezTo>
                    <a:pt x="0" y="7767220"/>
                    <a:pt x="116110" y="7915080"/>
                    <a:pt x="257765" y="7915080"/>
                  </a:cubicBezTo>
                  <a:lnTo>
                    <a:pt x="11353274" y="7915080"/>
                  </a:lnTo>
                  <a:cubicBezTo>
                    <a:pt x="11494929" y="7915080"/>
                    <a:pt x="11611039" y="7767220"/>
                    <a:pt x="11611039" y="7586166"/>
                  </a:cubicBezTo>
                  <a:lnTo>
                    <a:pt x="11611039" y="328915"/>
                  </a:lnTo>
                  <a:cubicBezTo>
                    <a:pt x="11611039" y="147861"/>
                    <a:pt x="11494929" y="0"/>
                    <a:pt x="11353274" y="0"/>
                  </a:cubicBezTo>
                  <a:close/>
                </a:path>
              </a:pathLst>
            </a:custGeom>
            <a:blipFill>
              <a:blip r:embed="rId2"/>
              <a:stretch>
                <a:fillRect l="-10594" t="0" r="-1059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52246" y="1203115"/>
            <a:ext cx="6267514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4"/>
              </a:lnSpc>
            </a:pPr>
            <a:r>
              <a:rPr lang="en-US" sz="4342" b="true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Contexto del caso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90402" y="992101"/>
            <a:ext cx="6267514" cy="239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  <a:spcBef>
                <a:spcPct val="0"/>
              </a:spcBef>
            </a:pPr>
            <a:r>
              <a:rPr lang="en-US" b="true" sz="1442">
                <a:solidFill>
                  <a:srgbClr val="C8853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ANTECEDENTES DEL PROYECTO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9544" y="2929186"/>
            <a:ext cx="6365488" cy="1527717"/>
            <a:chOff x="0" y="0"/>
            <a:chExt cx="6350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152400" y="0"/>
                  </a:moveTo>
                  <a:lnTo>
                    <a:pt x="6197600" y="0"/>
                  </a:lnTo>
                  <a:cubicBezTo>
                    <a:pt x="6281768" y="0"/>
                    <a:pt x="6350000" y="68232"/>
                    <a:pt x="6350000" y="152400"/>
                  </a:cubicBezTo>
                  <a:lnTo>
                    <a:pt x="6350000" y="1371600"/>
                  </a:lnTo>
                  <a:cubicBezTo>
                    <a:pt x="6350000" y="1455768"/>
                    <a:pt x="6281768" y="1524000"/>
                    <a:pt x="619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35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2316" y="3081958"/>
            <a:ext cx="50924" cy="1222174"/>
            <a:chOff x="0" y="0"/>
            <a:chExt cx="508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535"/>
                    <a:pt x="49312" y="1488"/>
                  </a:cubicBezTo>
                  <a:cubicBezTo>
                    <a:pt x="50265" y="2441"/>
                    <a:pt x="50800" y="3733"/>
                    <a:pt x="50800" y="5080"/>
                  </a:cubicBezTo>
                  <a:lnTo>
                    <a:pt x="50800" y="1214120"/>
                  </a:lnTo>
                  <a:cubicBezTo>
                    <a:pt x="50800" y="1215467"/>
                    <a:pt x="50265" y="1216759"/>
                    <a:pt x="49312" y="1217712"/>
                  </a:cubicBezTo>
                  <a:cubicBezTo>
                    <a:pt x="48359" y="1218665"/>
                    <a:pt x="47067" y="1219200"/>
                    <a:pt x="45720" y="1219200"/>
                  </a:cubicBezTo>
                  <a:lnTo>
                    <a:pt x="5080" y="1219200"/>
                  </a:lnTo>
                  <a:cubicBezTo>
                    <a:pt x="3733" y="1219200"/>
                    <a:pt x="2441" y="1218665"/>
                    <a:pt x="1488" y="1217712"/>
                  </a:cubicBezTo>
                  <a:cubicBezTo>
                    <a:pt x="535" y="1216759"/>
                    <a:pt x="0" y="1215467"/>
                    <a:pt x="0" y="1214120"/>
                  </a:cubicBezTo>
                  <a:lnTo>
                    <a:pt x="0" y="5080"/>
                  </a:lnTo>
                  <a:cubicBezTo>
                    <a:pt x="0" y="2274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F9B4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08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06012" y="3088370"/>
            <a:ext cx="5856249" cy="38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b="true" sz="2405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Ubicación Estratégica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6012" y="3498967"/>
            <a:ext cx="5728939" cy="64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871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Pirque, Valle del Maipo: zona de alto valor turístico enológico y natural.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49544" y="4711523"/>
            <a:ext cx="6365488" cy="1527717"/>
            <a:chOff x="0" y="0"/>
            <a:chExt cx="6350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152400" y="0"/>
                  </a:moveTo>
                  <a:lnTo>
                    <a:pt x="6197600" y="0"/>
                  </a:lnTo>
                  <a:cubicBezTo>
                    <a:pt x="6281768" y="0"/>
                    <a:pt x="6350000" y="68232"/>
                    <a:pt x="6350000" y="152400"/>
                  </a:cubicBezTo>
                  <a:lnTo>
                    <a:pt x="6350000" y="1371600"/>
                  </a:lnTo>
                  <a:cubicBezTo>
                    <a:pt x="6350000" y="1455768"/>
                    <a:pt x="6281768" y="1524000"/>
                    <a:pt x="619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2316" y="4864294"/>
            <a:ext cx="50924" cy="1222174"/>
            <a:chOff x="0" y="0"/>
            <a:chExt cx="508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535"/>
                    <a:pt x="49312" y="1488"/>
                  </a:cubicBezTo>
                  <a:cubicBezTo>
                    <a:pt x="50265" y="2441"/>
                    <a:pt x="50800" y="3733"/>
                    <a:pt x="50800" y="5080"/>
                  </a:cubicBezTo>
                  <a:lnTo>
                    <a:pt x="50800" y="1214120"/>
                  </a:lnTo>
                  <a:cubicBezTo>
                    <a:pt x="50800" y="1215467"/>
                    <a:pt x="50265" y="1216759"/>
                    <a:pt x="49312" y="1217712"/>
                  </a:cubicBezTo>
                  <a:cubicBezTo>
                    <a:pt x="48359" y="1218665"/>
                    <a:pt x="47067" y="1219200"/>
                    <a:pt x="45720" y="1219200"/>
                  </a:cubicBezTo>
                  <a:lnTo>
                    <a:pt x="5080" y="1219200"/>
                  </a:lnTo>
                  <a:cubicBezTo>
                    <a:pt x="3733" y="1219200"/>
                    <a:pt x="2441" y="1218665"/>
                    <a:pt x="1488" y="1217712"/>
                  </a:cubicBezTo>
                  <a:cubicBezTo>
                    <a:pt x="535" y="1216759"/>
                    <a:pt x="0" y="1215467"/>
                    <a:pt x="0" y="1214120"/>
                  </a:cubicBezTo>
                  <a:lnTo>
                    <a:pt x="0" y="5080"/>
                  </a:lnTo>
                  <a:cubicBezTo>
                    <a:pt x="0" y="2274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02213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8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06012" y="4870706"/>
            <a:ext cx="5856249" cy="38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b="true" sz="2405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Gestión Manual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6012" y="5281303"/>
            <a:ext cx="5728939" cy="64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871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Administración en papel desde 2008 con riesgo alto de sobreventa.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49544" y="6493859"/>
            <a:ext cx="6365488" cy="1527717"/>
            <a:chOff x="0" y="0"/>
            <a:chExt cx="6350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6350000">
                  <a:moveTo>
                    <a:pt x="152400" y="0"/>
                  </a:moveTo>
                  <a:lnTo>
                    <a:pt x="6197600" y="0"/>
                  </a:lnTo>
                  <a:cubicBezTo>
                    <a:pt x="6281768" y="0"/>
                    <a:pt x="6350000" y="68232"/>
                    <a:pt x="6350000" y="152400"/>
                  </a:cubicBezTo>
                  <a:lnTo>
                    <a:pt x="6350000" y="1371600"/>
                  </a:lnTo>
                  <a:cubicBezTo>
                    <a:pt x="6350000" y="1455768"/>
                    <a:pt x="6281768" y="1524000"/>
                    <a:pt x="619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350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2316" y="6646631"/>
            <a:ext cx="50924" cy="1222174"/>
            <a:chOff x="0" y="0"/>
            <a:chExt cx="508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5080" y="0"/>
                  </a:moveTo>
                  <a:lnTo>
                    <a:pt x="45720" y="0"/>
                  </a:lnTo>
                  <a:cubicBezTo>
                    <a:pt x="47067" y="0"/>
                    <a:pt x="48359" y="535"/>
                    <a:pt x="49312" y="1488"/>
                  </a:cubicBezTo>
                  <a:cubicBezTo>
                    <a:pt x="50265" y="2441"/>
                    <a:pt x="50800" y="3733"/>
                    <a:pt x="50800" y="5080"/>
                  </a:cubicBezTo>
                  <a:lnTo>
                    <a:pt x="50800" y="1214120"/>
                  </a:lnTo>
                  <a:cubicBezTo>
                    <a:pt x="50800" y="1215467"/>
                    <a:pt x="50265" y="1216759"/>
                    <a:pt x="49312" y="1217712"/>
                  </a:cubicBezTo>
                  <a:cubicBezTo>
                    <a:pt x="48359" y="1218665"/>
                    <a:pt x="47067" y="1219200"/>
                    <a:pt x="45720" y="1219200"/>
                  </a:cubicBezTo>
                  <a:lnTo>
                    <a:pt x="5080" y="1219200"/>
                  </a:lnTo>
                  <a:cubicBezTo>
                    <a:pt x="3733" y="1219200"/>
                    <a:pt x="2441" y="1218665"/>
                    <a:pt x="1488" y="1217712"/>
                  </a:cubicBezTo>
                  <a:cubicBezTo>
                    <a:pt x="535" y="1216759"/>
                    <a:pt x="0" y="1215467"/>
                    <a:pt x="0" y="1214120"/>
                  </a:cubicBezTo>
                  <a:lnTo>
                    <a:pt x="0" y="5080"/>
                  </a:lnTo>
                  <a:cubicBezTo>
                    <a:pt x="0" y="2274"/>
                    <a:pt x="2274" y="0"/>
                    <a:pt x="5080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8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06012" y="6653043"/>
            <a:ext cx="5856249" cy="38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b="true" sz="2405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Brecha Digital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6012" y="7063640"/>
            <a:ext cx="5728939" cy="64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1871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Web actual no confiable e inestabilidad de internet en zona rural.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14305" y="1021545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5" y="0"/>
                </a:lnTo>
                <a:lnTo>
                  <a:pt x="6725775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8200" y="857760"/>
            <a:ext cx="10220016" cy="84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93"/>
              </a:lnSpc>
              <a:spcBef>
                <a:spcPct val="0"/>
              </a:spcBef>
            </a:pPr>
            <a:r>
              <a:rPr lang="en-US" b="true" sz="5427" strike="noStrike" u="non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Propuesta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8200" y="569194"/>
            <a:ext cx="4809419" cy="296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767">
                <a:solidFill>
                  <a:srgbClr val="C8853E"/>
                </a:solidFill>
                <a:latin typeface="Open Sans"/>
                <a:ea typeface="Open Sans"/>
                <a:cs typeface="Open Sans"/>
                <a:sym typeface="Open Sans"/>
              </a:rPr>
              <a:t>SOLUCIÓN PROPUESTA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38200" y="2893063"/>
            <a:ext cx="7137612" cy="2424095"/>
            <a:chOff x="0" y="0"/>
            <a:chExt cx="67310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3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731000">
                  <a:moveTo>
                    <a:pt x="228600" y="0"/>
                  </a:moveTo>
                  <a:lnTo>
                    <a:pt x="6502400" y="0"/>
                  </a:lnTo>
                  <a:cubicBezTo>
                    <a:pt x="6628652" y="0"/>
                    <a:pt x="6731000" y="102348"/>
                    <a:pt x="6731000" y="228600"/>
                  </a:cubicBezTo>
                  <a:lnTo>
                    <a:pt x="6731000" y="2057400"/>
                  </a:lnTo>
                  <a:cubicBezTo>
                    <a:pt x="6731000" y="2183652"/>
                    <a:pt x="6628652" y="2286000"/>
                    <a:pt x="6502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3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07544" y="3239929"/>
            <a:ext cx="32321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>
                <a:solidFill>
                  <a:srgbClr val="022137"/>
                </a:solidFill>
                <a:latin typeface="Garet"/>
                <a:ea typeface="Garet"/>
                <a:cs typeface="Garet"/>
                <a:sym typeface="Garet"/>
              </a:rPr>
              <a:t>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8494" y="3172593"/>
            <a:ext cx="612757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b="true" sz="2827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Para Quién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880" y="3797667"/>
            <a:ext cx="6464253" cy="76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Turistas nacionales, extranjeros y equipo administrativo del hospedaje.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379828" y="2893063"/>
            <a:ext cx="7137612" cy="2424095"/>
            <a:chOff x="0" y="0"/>
            <a:chExt cx="67310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3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731000">
                  <a:moveTo>
                    <a:pt x="228600" y="0"/>
                  </a:moveTo>
                  <a:lnTo>
                    <a:pt x="6502400" y="0"/>
                  </a:lnTo>
                  <a:cubicBezTo>
                    <a:pt x="6628652" y="0"/>
                    <a:pt x="6731000" y="102348"/>
                    <a:pt x="6731000" y="228600"/>
                  </a:cubicBezTo>
                  <a:lnTo>
                    <a:pt x="6731000" y="2057400"/>
                  </a:lnTo>
                  <a:cubicBezTo>
                    <a:pt x="6731000" y="2183652"/>
                    <a:pt x="6628652" y="2286000"/>
                    <a:pt x="6502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73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49172" y="3239929"/>
            <a:ext cx="32321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>
                <a:solidFill>
                  <a:srgbClr val="F9B41F"/>
                </a:solidFill>
                <a:latin typeface="Garet"/>
                <a:ea typeface="Garet"/>
                <a:cs typeface="Garet"/>
                <a:sym typeface="Garet"/>
              </a:rPr>
              <a:t>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80122" y="3172593"/>
            <a:ext cx="612757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b="true" sz="2827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Qué Problema Resuelve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6508" y="3797667"/>
            <a:ext cx="6464253" cy="76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Elimina errores de reserva manual, pérdidas de datos y sobreventas.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38200" y="5653838"/>
            <a:ext cx="7137612" cy="2424095"/>
            <a:chOff x="0" y="0"/>
            <a:chExt cx="6731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3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731000">
                  <a:moveTo>
                    <a:pt x="228600" y="0"/>
                  </a:moveTo>
                  <a:lnTo>
                    <a:pt x="6502400" y="0"/>
                  </a:lnTo>
                  <a:cubicBezTo>
                    <a:pt x="6628652" y="0"/>
                    <a:pt x="6731000" y="102348"/>
                    <a:pt x="6731000" y="228600"/>
                  </a:cubicBezTo>
                  <a:lnTo>
                    <a:pt x="6731000" y="2057400"/>
                  </a:lnTo>
                  <a:cubicBezTo>
                    <a:pt x="6731000" y="2183652"/>
                    <a:pt x="6628652" y="2286000"/>
                    <a:pt x="6502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3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07544" y="6000704"/>
            <a:ext cx="32321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>
                <a:solidFill>
                  <a:srgbClr val="022137"/>
                </a:solidFill>
                <a:latin typeface="Garet"/>
                <a:ea typeface="Garet"/>
                <a:cs typeface="Garet"/>
                <a:sym typeface="Garet"/>
              </a:rPr>
              <a:t>💎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8494" y="5933368"/>
            <a:ext cx="612757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b="true" sz="2827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Propuesta de Valor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4880" y="6558441"/>
            <a:ext cx="6464253" cy="76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Plataforma web accesible con reservas automáticas 24/7 y panel de control.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379828" y="5653838"/>
            <a:ext cx="7137612" cy="2424095"/>
            <a:chOff x="0" y="0"/>
            <a:chExt cx="67310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31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731000">
                  <a:moveTo>
                    <a:pt x="228600" y="0"/>
                  </a:moveTo>
                  <a:lnTo>
                    <a:pt x="6502400" y="0"/>
                  </a:lnTo>
                  <a:cubicBezTo>
                    <a:pt x="6628652" y="0"/>
                    <a:pt x="6731000" y="102348"/>
                    <a:pt x="6731000" y="228600"/>
                  </a:cubicBezTo>
                  <a:lnTo>
                    <a:pt x="6731000" y="2057400"/>
                  </a:lnTo>
                  <a:cubicBezTo>
                    <a:pt x="6731000" y="2183652"/>
                    <a:pt x="6628652" y="2286000"/>
                    <a:pt x="6502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E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31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649172" y="6000704"/>
            <a:ext cx="32321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>
                <a:solidFill>
                  <a:srgbClr val="F9B41F"/>
                </a:solidFill>
                <a:latin typeface="Garet"/>
                <a:ea typeface="Garet"/>
                <a:cs typeface="Garet"/>
                <a:sym typeface="Garet"/>
              </a:rPr>
              <a:t>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80122" y="5933368"/>
            <a:ext cx="6127573" cy="48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8"/>
              </a:lnSpc>
            </a:pPr>
            <a:r>
              <a:rPr lang="en-US" b="true" sz="2827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Diferenciadores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16508" y="6558441"/>
            <a:ext cx="6464253" cy="761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7"/>
              </a:lnSpc>
            </a:pPr>
            <a:r>
              <a:rPr lang="en-US" sz="2262">
                <a:solidFill>
                  <a:srgbClr val="555555"/>
                </a:solidFill>
                <a:latin typeface="Garet"/>
                <a:ea typeface="Garet"/>
                <a:cs typeface="Garet"/>
                <a:sym typeface="Garet"/>
              </a:rPr>
              <a:t>99% reducción de error, alertas por WhatsApp y soporte multi-idioma.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0123" y="574357"/>
            <a:ext cx="6977564" cy="629258"/>
          </a:xfrm>
          <a:custGeom>
            <a:avLst/>
            <a:gdLst/>
            <a:ahLst/>
            <a:cxnLst/>
            <a:rect r="r" b="b" t="t" l="l"/>
            <a:pathLst>
              <a:path h="629258" w="6977564">
                <a:moveTo>
                  <a:pt x="0" y="0"/>
                </a:moveTo>
                <a:lnTo>
                  <a:pt x="6977565" y="0"/>
                </a:lnTo>
                <a:lnTo>
                  <a:pt x="6977565" y="629258"/>
                </a:lnTo>
                <a:lnTo>
                  <a:pt x="0" y="62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5282" y="5499704"/>
            <a:ext cx="1329655" cy="2045624"/>
          </a:xfrm>
          <a:custGeom>
            <a:avLst/>
            <a:gdLst/>
            <a:ahLst/>
            <a:cxnLst/>
            <a:rect r="r" b="b" t="t" l="l"/>
            <a:pathLst>
              <a:path h="2045624" w="1329655">
                <a:moveTo>
                  <a:pt x="0" y="0"/>
                </a:moveTo>
                <a:lnTo>
                  <a:pt x="1329656" y="0"/>
                </a:lnTo>
                <a:lnTo>
                  <a:pt x="1329656" y="2045623"/>
                </a:lnTo>
                <a:lnTo>
                  <a:pt x="0" y="204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41318" y="5499704"/>
            <a:ext cx="1677412" cy="2045624"/>
          </a:xfrm>
          <a:custGeom>
            <a:avLst/>
            <a:gdLst/>
            <a:ahLst/>
            <a:cxnLst/>
            <a:rect r="r" b="b" t="t" l="l"/>
            <a:pathLst>
              <a:path h="2045624" w="1677412">
                <a:moveTo>
                  <a:pt x="0" y="0"/>
                </a:moveTo>
                <a:lnTo>
                  <a:pt x="1677411" y="0"/>
                </a:lnTo>
                <a:lnTo>
                  <a:pt x="1677411" y="2045623"/>
                </a:lnTo>
                <a:lnTo>
                  <a:pt x="0" y="204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00710" y="5499704"/>
            <a:ext cx="2045624" cy="2045624"/>
          </a:xfrm>
          <a:custGeom>
            <a:avLst/>
            <a:gdLst/>
            <a:ahLst/>
            <a:cxnLst/>
            <a:rect r="r" b="b" t="t" l="l"/>
            <a:pathLst>
              <a:path h="2045624" w="2045624">
                <a:moveTo>
                  <a:pt x="0" y="0"/>
                </a:moveTo>
                <a:lnTo>
                  <a:pt x="2045624" y="0"/>
                </a:lnTo>
                <a:lnTo>
                  <a:pt x="2045624" y="2045623"/>
                </a:lnTo>
                <a:lnTo>
                  <a:pt x="0" y="20456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73594" y="5499704"/>
            <a:ext cx="2586853" cy="1966008"/>
          </a:xfrm>
          <a:custGeom>
            <a:avLst/>
            <a:gdLst/>
            <a:ahLst/>
            <a:cxnLst/>
            <a:rect r="r" b="b" t="t" l="l"/>
            <a:pathLst>
              <a:path h="1966008" w="2586853">
                <a:moveTo>
                  <a:pt x="0" y="0"/>
                </a:moveTo>
                <a:lnTo>
                  <a:pt x="2586853" y="0"/>
                </a:lnTo>
                <a:lnTo>
                  <a:pt x="2586853" y="1966008"/>
                </a:lnTo>
                <a:lnTo>
                  <a:pt x="0" y="196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37426" y="536257"/>
            <a:ext cx="10213147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Pertinencia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7434" y="2382555"/>
            <a:ext cx="8253132" cy="187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El proyecto suple una necesidad tecnológica que sufre nuestro cliente, necesidad que se solventa mediante el desarrollo de una solución de software relacionada a la Tecnología de la Información, incluyendo competencias y intereses profesionales del perfil de egreso.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188" y="7770480"/>
            <a:ext cx="4065845" cy="174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1709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Ofrecer propuestas de solución informática analizando de forma integral los procesos de acuerdo con los requerimientos de la organización.</a:t>
            </a:r>
          </a:p>
          <a:p>
            <a:pPr algn="ctr">
              <a:lnSpc>
                <a:spcPts val="239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829724" y="7796683"/>
            <a:ext cx="4100598" cy="146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Construir modelos de datos para soport</a:t>
            </a:r>
            <a:r>
              <a:rPr lang="en-US" b="true" sz="1706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 los requerimientos de la organización de acuerdo a un diseño definido y escalable en el tiempo. </a:t>
            </a:r>
          </a:p>
          <a:p>
            <a:pPr algn="ctr">
              <a:lnSpc>
                <a:spcPts val="238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73223" y="7796683"/>
            <a:ext cx="4100598" cy="146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Implementar soluciones sistémicas integrales para automatiz</a:t>
            </a:r>
            <a:r>
              <a:rPr lang="en-US" b="true" sz="1706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 y optimizar procesos de negocio de acuerdo con las necesidades de la organización.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721" y="7760955"/>
            <a:ext cx="4100598" cy="146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Desarrollar una solución de softw</a:t>
            </a:r>
            <a:r>
              <a:rPr lang="en-US" b="true" sz="1706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 utilizando técnicas que permitan sistematizar el proceso de desarrollo y mantenimiento, asegurando el logro de los objetivos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0123" y="574357"/>
            <a:ext cx="6977564" cy="629258"/>
          </a:xfrm>
          <a:custGeom>
            <a:avLst/>
            <a:gdLst/>
            <a:ahLst/>
            <a:cxnLst/>
            <a:rect r="r" b="b" t="t" l="l"/>
            <a:pathLst>
              <a:path h="629258" w="6977564">
                <a:moveTo>
                  <a:pt x="0" y="0"/>
                </a:moveTo>
                <a:lnTo>
                  <a:pt x="6977565" y="0"/>
                </a:lnTo>
                <a:lnTo>
                  <a:pt x="6977565" y="629258"/>
                </a:lnTo>
                <a:lnTo>
                  <a:pt x="0" y="62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63044" y="2378849"/>
            <a:ext cx="1299364" cy="1305893"/>
          </a:xfrm>
          <a:custGeom>
            <a:avLst/>
            <a:gdLst/>
            <a:ahLst/>
            <a:cxnLst/>
            <a:rect r="r" b="b" t="t" l="l"/>
            <a:pathLst>
              <a:path h="1305893" w="1299364">
                <a:moveTo>
                  <a:pt x="0" y="0"/>
                </a:moveTo>
                <a:lnTo>
                  <a:pt x="1299363" y="0"/>
                </a:lnTo>
                <a:lnTo>
                  <a:pt x="1299363" y="1305893"/>
                </a:lnTo>
                <a:lnTo>
                  <a:pt x="0" y="130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8165" y="2378849"/>
            <a:ext cx="1471670" cy="1280353"/>
          </a:xfrm>
          <a:custGeom>
            <a:avLst/>
            <a:gdLst/>
            <a:ahLst/>
            <a:cxnLst/>
            <a:rect r="r" b="b" t="t" l="l"/>
            <a:pathLst>
              <a:path h="1280353" w="1471670">
                <a:moveTo>
                  <a:pt x="0" y="0"/>
                </a:moveTo>
                <a:lnTo>
                  <a:pt x="1471670" y="0"/>
                </a:lnTo>
                <a:lnTo>
                  <a:pt x="1471670" y="1280353"/>
                </a:lnTo>
                <a:lnTo>
                  <a:pt x="0" y="1280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78089" y="2416768"/>
            <a:ext cx="1197485" cy="1434114"/>
          </a:xfrm>
          <a:custGeom>
            <a:avLst/>
            <a:gdLst/>
            <a:ahLst/>
            <a:cxnLst/>
            <a:rect r="r" b="b" t="t" l="l"/>
            <a:pathLst>
              <a:path h="1434114" w="1197485">
                <a:moveTo>
                  <a:pt x="0" y="0"/>
                </a:moveTo>
                <a:lnTo>
                  <a:pt x="1197486" y="0"/>
                </a:lnTo>
                <a:lnTo>
                  <a:pt x="1197486" y="1434114"/>
                </a:lnTo>
                <a:lnTo>
                  <a:pt x="0" y="14341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07053" y="7157218"/>
            <a:ext cx="1830373" cy="1757158"/>
          </a:xfrm>
          <a:custGeom>
            <a:avLst/>
            <a:gdLst/>
            <a:ahLst/>
            <a:cxnLst/>
            <a:rect r="r" b="b" t="t" l="l"/>
            <a:pathLst>
              <a:path h="1757158" w="1830373">
                <a:moveTo>
                  <a:pt x="0" y="0"/>
                </a:moveTo>
                <a:lnTo>
                  <a:pt x="1830373" y="0"/>
                </a:lnTo>
                <a:lnTo>
                  <a:pt x="1830373" y="1757158"/>
                </a:lnTo>
                <a:lnTo>
                  <a:pt x="0" y="17571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64764" y="7141955"/>
            <a:ext cx="1991484" cy="1772421"/>
          </a:xfrm>
          <a:custGeom>
            <a:avLst/>
            <a:gdLst/>
            <a:ahLst/>
            <a:cxnLst/>
            <a:rect r="r" b="b" t="t" l="l"/>
            <a:pathLst>
              <a:path h="1772421" w="1991484">
                <a:moveTo>
                  <a:pt x="0" y="0"/>
                </a:moveTo>
                <a:lnTo>
                  <a:pt x="1991484" y="0"/>
                </a:lnTo>
                <a:lnTo>
                  <a:pt x="1991484" y="1772421"/>
                </a:lnTo>
                <a:lnTo>
                  <a:pt x="0" y="17724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37426" y="536257"/>
            <a:ext cx="10213147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Factibilidad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116" y="3822307"/>
            <a:ext cx="4138621" cy="98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9"/>
              </a:lnSpc>
            </a:pPr>
            <a:r>
              <a:rPr lang="en-US" sz="1442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Duración del semestre de 3 meses con 3 semanas (con 2 meses de desarrollo y medio aproxodimado)</a:t>
            </a:r>
          </a:p>
          <a:p>
            <a:pPr algn="ctr">
              <a:lnSpc>
                <a:spcPts val="20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058500" y="3822307"/>
            <a:ext cx="2236664" cy="73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2"/>
              </a:lnSpc>
            </a:pPr>
            <a:r>
              <a:rPr lang="en-US" sz="1444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360 hor</a:t>
            </a:r>
            <a:r>
              <a:rPr lang="en-US" b="true" sz="1444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de desarrollo entre todas las fases conjuntas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58375" y="3720535"/>
            <a:ext cx="2971249" cy="122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2"/>
              </a:lnSpc>
            </a:pPr>
            <a:r>
              <a:rPr lang="en-US" sz="1423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Materiales requeridos completamente aislados en entorno digital (lenguajes de programación, frameworks, sistemas de gestión)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9079" y="7119118"/>
            <a:ext cx="2380615" cy="58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Resistencia al cambio y barrera digital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99079" y="8252945"/>
            <a:ext cx="2380615" cy="8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Problemas de usabilidad frente a publico internacional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18385" y="5454241"/>
            <a:ext cx="3851230" cy="51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6"/>
              </a:lnSpc>
              <a:spcBef>
                <a:spcPct val="0"/>
              </a:spcBef>
            </a:pPr>
            <a:r>
              <a:rPr lang="en-US" b="true" sz="3233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Factores externos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29625" y="7008730"/>
            <a:ext cx="3773215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Eliminación de uso de papel frente a digitalización de gestión administrativa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29625" y="8097767"/>
            <a:ext cx="3773215" cy="81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true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Disponibilidad de bibliotecas Open Source (Gestión de calendarios, soporte multi idioma)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8824" y="1383915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27994" y="2096915"/>
            <a:ext cx="1356169" cy="1356169"/>
          </a:xfrm>
          <a:custGeom>
            <a:avLst/>
            <a:gdLst/>
            <a:ahLst/>
            <a:cxnLst/>
            <a:rect r="r" b="b" t="t" l="l"/>
            <a:pathLst>
              <a:path h="1356169" w="1356169">
                <a:moveTo>
                  <a:pt x="0" y="0"/>
                </a:moveTo>
                <a:lnTo>
                  <a:pt x="1356168" y="0"/>
                </a:lnTo>
                <a:lnTo>
                  <a:pt x="1356168" y="1356168"/>
                </a:lnTo>
                <a:lnTo>
                  <a:pt x="0" y="1356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359195" y="5967683"/>
            <a:ext cx="1556961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85382" y="4424633"/>
            <a:ext cx="3174772" cy="1056167"/>
            <a:chOff x="0" y="0"/>
            <a:chExt cx="836154" cy="2781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6154" cy="278167"/>
            </a:xfrm>
            <a:custGeom>
              <a:avLst/>
              <a:gdLst/>
              <a:ahLst/>
              <a:cxnLst/>
              <a:rect r="r" b="b" t="t" l="l"/>
              <a:pathLst>
                <a:path h="278167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36712"/>
                  </a:lnTo>
                  <a:cubicBezTo>
                    <a:pt x="836154" y="247706"/>
                    <a:pt x="831786" y="258251"/>
                    <a:pt x="824012" y="266025"/>
                  </a:cubicBezTo>
                  <a:cubicBezTo>
                    <a:pt x="816237" y="273800"/>
                    <a:pt x="805693" y="278167"/>
                    <a:pt x="794698" y="278167"/>
                  </a:cubicBezTo>
                  <a:lnTo>
                    <a:pt x="41456" y="278167"/>
                  </a:lnTo>
                  <a:cubicBezTo>
                    <a:pt x="30461" y="278167"/>
                    <a:pt x="19917" y="273800"/>
                    <a:pt x="12142" y="266025"/>
                  </a:cubicBezTo>
                  <a:cubicBezTo>
                    <a:pt x="4368" y="258251"/>
                    <a:pt x="0" y="247706"/>
                    <a:pt x="0" y="23671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C1FF72">
                <a:alpha val="2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36154" cy="30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b="true" sz="144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Identificar los principales interesados y características del entorno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44325" y="6332239"/>
            <a:ext cx="3174772" cy="1111110"/>
            <a:chOff x="0" y="0"/>
            <a:chExt cx="836154" cy="2926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6154" cy="292638"/>
            </a:xfrm>
            <a:custGeom>
              <a:avLst/>
              <a:gdLst/>
              <a:ahLst/>
              <a:cxnLst/>
              <a:rect r="r" b="b" t="t" l="l"/>
              <a:pathLst>
                <a:path h="292638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51182"/>
                  </a:lnTo>
                  <a:cubicBezTo>
                    <a:pt x="836154" y="262177"/>
                    <a:pt x="831786" y="272722"/>
                    <a:pt x="824012" y="280496"/>
                  </a:cubicBezTo>
                  <a:cubicBezTo>
                    <a:pt x="816237" y="288270"/>
                    <a:pt x="805693" y="292638"/>
                    <a:pt x="794698" y="292638"/>
                  </a:cubicBezTo>
                  <a:lnTo>
                    <a:pt x="41456" y="292638"/>
                  </a:lnTo>
                  <a:cubicBezTo>
                    <a:pt x="30461" y="292638"/>
                    <a:pt x="19917" y="288270"/>
                    <a:pt x="12142" y="280496"/>
                  </a:cubicBezTo>
                  <a:cubicBezTo>
                    <a:pt x="4368" y="272722"/>
                    <a:pt x="0" y="262177"/>
                    <a:pt x="0" y="25118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004AAD">
                <a:alpha val="2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36154" cy="32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b="true" sz="144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Definir los requerimientos funcionales del proyecto mediante entrevistas a stakeholders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69228" y="4424633"/>
            <a:ext cx="3174772" cy="1056167"/>
            <a:chOff x="0" y="0"/>
            <a:chExt cx="836154" cy="2781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154" cy="278167"/>
            </a:xfrm>
            <a:custGeom>
              <a:avLst/>
              <a:gdLst/>
              <a:ahLst/>
              <a:cxnLst/>
              <a:rect r="r" b="b" t="t" l="l"/>
              <a:pathLst>
                <a:path h="278167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36712"/>
                  </a:lnTo>
                  <a:cubicBezTo>
                    <a:pt x="836154" y="247706"/>
                    <a:pt x="831786" y="258251"/>
                    <a:pt x="824012" y="266025"/>
                  </a:cubicBezTo>
                  <a:cubicBezTo>
                    <a:pt x="816237" y="273800"/>
                    <a:pt x="805693" y="278167"/>
                    <a:pt x="794698" y="278167"/>
                  </a:cubicBezTo>
                  <a:lnTo>
                    <a:pt x="41456" y="278167"/>
                  </a:lnTo>
                  <a:cubicBezTo>
                    <a:pt x="30461" y="278167"/>
                    <a:pt x="19917" y="273800"/>
                    <a:pt x="12142" y="266025"/>
                  </a:cubicBezTo>
                  <a:cubicBezTo>
                    <a:pt x="4368" y="258251"/>
                    <a:pt x="0" y="247706"/>
                    <a:pt x="0" y="23671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FF3131">
                <a:alpha val="2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36154" cy="30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b="true" sz="144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Realizar estudio de mercado para definir factibilidad de propuesta de solución de software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21597" y="6332239"/>
            <a:ext cx="3174772" cy="1056167"/>
            <a:chOff x="0" y="0"/>
            <a:chExt cx="836154" cy="2781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6154" cy="278167"/>
            </a:xfrm>
            <a:custGeom>
              <a:avLst/>
              <a:gdLst/>
              <a:ahLst/>
              <a:cxnLst/>
              <a:rect r="r" b="b" t="t" l="l"/>
              <a:pathLst>
                <a:path h="278167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36712"/>
                  </a:lnTo>
                  <a:cubicBezTo>
                    <a:pt x="836154" y="247706"/>
                    <a:pt x="831786" y="258251"/>
                    <a:pt x="824012" y="266025"/>
                  </a:cubicBezTo>
                  <a:cubicBezTo>
                    <a:pt x="816237" y="273800"/>
                    <a:pt x="805693" y="278167"/>
                    <a:pt x="794698" y="278167"/>
                  </a:cubicBezTo>
                  <a:lnTo>
                    <a:pt x="41456" y="278167"/>
                  </a:lnTo>
                  <a:cubicBezTo>
                    <a:pt x="30461" y="278167"/>
                    <a:pt x="19917" y="273800"/>
                    <a:pt x="12142" y="266025"/>
                  </a:cubicBezTo>
                  <a:cubicBezTo>
                    <a:pt x="4368" y="258251"/>
                    <a:pt x="0" y="247706"/>
                    <a:pt x="0" y="23671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FFDE59">
                <a:alpha val="2000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36154" cy="30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b="true" sz="144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Analizar y definir el stack tecnológico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03971" y="4424633"/>
            <a:ext cx="3174772" cy="1111110"/>
            <a:chOff x="0" y="0"/>
            <a:chExt cx="836154" cy="2926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154" cy="292638"/>
            </a:xfrm>
            <a:custGeom>
              <a:avLst/>
              <a:gdLst/>
              <a:ahLst/>
              <a:cxnLst/>
              <a:rect r="r" b="b" t="t" l="l"/>
              <a:pathLst>
                <a:path h="292638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51182"/>
                  </a:lnTo>
                  <a:cubicBezTo>
                    <a:pt x="836154" y="262177"/>
                    <a:pt x="831786" y="272722"/>
                    <a:pt x="824012" y="280496"/>
                  </a:cubicBezTo>
                  <a:cubicBezTo>
                    <a:pt x="816237" y="288270"/>
                    <a:pt x="805693" y="292638"/>
                    <a:pt x="794698" y="292638"/>
                  </a:cubicBezTo>
                  <a:lnTo>
                    <a:pt x="41456" y="292638"/>
                  </a:lnTo>
                  <a:cubicBezTo>
                    <a:pt x="30461" y="292638"/>
                    <a:pt x="19917" y="288270"/>
                    <a:pt x="12142" y="280496"/>
                  </a:cubicBezTo>
                  <a:cubicBezTo>
                    <a:pt x="4368" y="272722"/>
                    <a:pt x="0" y="262177"/>
                    <a:pt x="0" y="25118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8C52FF">
                <a:alpha val="2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36154" cy="32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sz="144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Planificar y diseñar los Incrementos de la fase de desarrollo</a:t>
              </a:r>
            </a:p>
            <a:p>
              <a:pPr algn="ctr">
                <a:lnSpc>
                  <a:spcPts val="20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27994" y="6453458"/>
            <a:ext cx="3174772" cy="1056167"/>
            <a:chOff x="0" y="0"/>
            <a:chExt cx="836154" cy="2781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6154" cy="278167"/>
            </a:xfrm>
            <a:custGeom>
              <a:avLst/>
              <a:gdLst/>
              <a:ahLst/>
              <a:cxnLst/>
              <a:rect r="r" b="b" t="t" l="l"/>
              <a:pathLst>
                <a:path h="278167" w="836154">
                  <a:moveTo>
                    <a:pt x="41456" y="0"/>
                  </a:moveTo>
                  <a:lnTo>
                    <a:pt x="794698" y="0"/>
                  </a:lnTo>
                  <a:cubicBezTo>
                    <a:pt x="805693" y="0"/>
                    <a:pt x="816237" y="4368"/>
                    <a:pt x="824012" y="12142"/>
                  </a:cubicBezTo>
                  <a:cubicBezTo>
                    <a:pt x="831786" y="19917"/>
                    <a:pt x="836154" y="30461"/>
                    <a:pt x="836154" y="41456"/>
                  </a:cubicBezTo>
                  <a:lnTo>
                    <a:pt x="836154" y="236712"/>
                  </a:lnTo>
                  <a:cubicBezTo>
                    <a:pt x="836154" y="247706"/>
                    <a:pt x="831786" y="258251"/>
                    <a:pt x="824012" y="266025"/>
                  </a:cubicBezTo>
                  <a:cubicBezTo>
                    <a:pt x="816237" y="273800"/>
                    <a:pt x="805693" y="278167"/>
                    <a:pt x="794698" y="278167"/>
                  </a:cubicBezTo>
                  <a:lnTo>
                    <a:pt x="41456" y="278167"/>
                  </a:lnTo>
                  <a:cubicBezTo>
                    <a:pt x="30461" y="278167"/>
                    <a:pt x="19917" y="273800"/>
                    <a:pt x="12142" y="266025"/>
                  </a:cubicBezTo>
                  <a:cubicBezTo>
                    <a:pt x="4368" y="258251"/>
                    <a:pt x="0" y="247706"/>
                    <a:pt x="0" y="236712"/>
                  </a:cubicBezTo>
                  <a:lnTo>
                    <a:pt x="0" y="41456"/>
                  </a:lnTo>
                  <a:cubicBezTo>
                    <a:pt x="0" y="30461"/>
                    <a:pt x="4368" y="19917"/>
                    <a:pt x="12142" y="12142"/>
                  </a:cubicBezTo>
                  <a:cubicBezTo>
                    <a:pt x="19917" y="4368"/>
                    <a:pt x="30461" y="0"/>
                    <a:pt x="41456" y="0"/>
                  </a:cubicBezTo>
                  <a:close/>
                </a:path>
              </a:pathLst>
            </a:custGeom>
            <a:solidFill>
              <a:srgbClr val="745935">
                <a:alpha val="2000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36154" cy="30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  <a:r>
                <a:rPr lang="en-US" sz="1442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Documentar retroalimentación al final de cada Incremento</a:t>
              </a:r>
            </a:p>
            <a:p>
              <a:pPr algn="ctr">
                <a:lnSpc>
                  <a:spcPts val="20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31571" y="2333650"/>
            <a:ext cx="8799919" cy="1054021"/>
            <a:chOff x="0" y="0"/>
            <a:chExt cx="2317674" cy="2776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17674" cy="277602"/>
            </a:xfrm>
            <a:custGeom>
              <a:avLst/>
              <a:gdLst/>
              <a:ahLst/>
              <a:cxnLst/>
              <a:rect r="r" b="b" t="t" l="l"/>
              <a:pathLst>
                <a:path h="277602" w="2317674">
                  <a:moveTo>
                    <a:pt x="21994" y="0"/>
                  </a:moveTo>
                  <a:lnTo>
                    <a:pt x="2295680" y="0"/>
                  </a:lnTo>
                  <a:cubicBezTo>
                    <a:pt x="2307827" y="0"/>
                    <a:pt x="2317674" y="9847"/>
                    <a:pt x="2317674" y="21994"/>
                  </a:cubicBezTo>
                  <a:lnTo>
                    <a:pt x="2317674" y="255608"/>
                  </a:lnTo>
                  <a:cubicBezTo>
                    <a:pt x="2317674" y="261441"/>
                    <a:pt x="2315357" y="267036"/>
                    <a:pt x="2311232" y="271160"/>
                  </a:cubicBezTo>
                  <a:cubicBezTo>
                    <a:pt x="2307107" y="275285"/>
                    <a:pt x="2301513" y="277602"/>
                    <a:pt x="2295680" y="277602"/>
                  </a:cubicBezTo>
                  <a:lnTo>
                    <a:pt x="21994" y="277602"/>
                  </a:lnTo>
                  <a:cubicBezTo>
                    <a:pt x="16161" y="277602"/>
                    <a:pt x="10567" y="275285"/>
                    <a:pt x="6442" y="271160"/>
                  </a:cubicBezTo>
                  <a:cubicBezTo>
                    <a:pt x="2317" y="267036"/>
                    <a:pt x="0" y="261441"/>
                    <a:pt x="0" y="255608"/>
                  </a:cubicBezTo>
                  <a:lnTo>
                    <a:pt x="0" y="21994"/>
                  </a:lnTo>
                  <a:cubicBezTo>
                    <a:pt x="0" y="9847"/>
                    <a:pt x="9847" y="0"/>
                    <a:pt x="21994" y="0"/>
                  </a:cubicBezTo>
                  <a:close/>
                </a:path>
              </a:pathLst>
            </a:custGeom>
            <a:solidFill>
              <a:srgbClr val="02213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317674" cy="306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756510" y="2365172"/>
            <a:ext cx="8774980" cy="12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7"/>
              </a:lnSpc>
            </a:pPr>
            <a:r>
              <a:rPr lang="en-US" b="true" sz="23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Diseñar y desarrollar una aplicación web de hospedaje enfocada en la usabilidad y la adecuación funcional.</a:t>
            </a:r>
          </a:p>
          <a:p>
            <a:pPr algn="ctr">
              <a:lnSpc>
                <a:spcPts val="33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19777" y="344471"/>
            <a:ext cx="7832291" cy="97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3"/>
              </a:lnSpc>
            </a:pPr>
            <a:r>
              <a:rPr lang="en-US" sz="6199" b="true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Objetivos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3895" y="8955025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0"/>
                </a:lnTo>
                <a:lnTo>
                  <a:pt x="0" y="606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25113" y="8651749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90018" y="3162936"/>
            <a:ext cx="5560784" cy="5029324"/>
            <a:chOff x="0" y="0"/>
            <a:chExt cx="1992860" cy="18023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2860" cy="1802396"/>
            </a:xfrm>
            <a:custGeom>
              <a:avLst/>
              <a:gdLst/>
              <a:ahLst/>
              <a:cxnLst/>
              <a:rect r="r" b="b" t="t" l="l"/>
              <a:pathLst>
                <a:path h="1802396" w="1992860">
                  <a:moveTo>
                    <a:pt x="26452" y="0"/>
                  </a:moveTo>
                  <a:lnTo>
                    <a:pt x="1966407" y="0"/>
                  </a:lnTo>
                  <a:cubicBezTo>
                    <a:pt x="1981016" y="0"/>
                    <a:pt x="1992860" y="11843"/>
                    <a:pt x="1992860" y="26452"/>
                  </a:cubicBezTo>
                  <a:lnTo>
                    <a:pt x="1992860" y="1775944"/>
                  </a:lnTo>
                  <a:cubicBezTo>
                    <a:pt x="1992860" y="1790553"/>
                    <a:pt x="1981016" y="1802396"/>
                    <a:pt x="1966407" y="1802396"/>
                  </a:cubicBezTo>
                  <a:lnTo>
                    <a:pt x="26452" y="1802396"/>
                  </a:lnTo>
                  <a:cubicBezTo>
                    <a:pt x="19437" y="1802396"/>
                    <a:pt x="12709" y="1799609"/>
                    <a:pt x="7748" y="1794649"/>
                  </a:cubicBezTo>
                  <a:cubicBezTo>
                    <a:pt x="2787" y="1789688"/>
                    <a:pt x="0" y="1782960"/>
                    <a:pt x="0" y="1775944"/>
                  </a:cubicBezTo>
                  <a:lnTo>
                    <a:pt x="0" y="26452"/>
                  </a:lnTo>
                  <a:cubicBezTo>
                    <a:pt x="0" y="11843"/>
                    <a:pt x="11843" y="0"/>
                    <a:pt x="26452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992860" cy="1821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71639" y="3620198"/>
            <a:ext cx="4597542" cy="4114800"/>
          </a:xfrm>
          <a:custGeom>
            <a:avLst/>
            <a:gdLst/>
            <a:ahLst/>
            <a:cxnLst/>
            <a:rect r="r" b="b" t="t" l="l"/>
            <a:pathLst>
              <a:path h="4114800" w="4597542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551898" y="3162936"/>
            <a:ext cx="5560784" cy="5029324"/>
            <a:chOff x="0" y="0"/>
            <a:chExt cx="1992860" cy="1802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2860" cy="1802396"/>
            </a:xfrm>
            <a:custGeom>
              <a:avLst/>
              <a:gdLst/>
              <a:ahLst/>
              <a:cxnLst/>
              <a:rect r="r" b="b" t="t" l="l"/>
              <a:pathLst>
                <a:path h="1802396" w="1992860">
                  <a:moveTo>
                    <a:pt x="26452" y="0"/>
                  </a:moveTo>
                  <a:lnTo>
                    <a:pt x="1966407" y="0"/>
                  </a:lnTo>
                  <a:cubicBezTo>
                    <a:pt x="1981016" y="0"/>
                    <a:pt x="1992860" y="11843"/>
                    <a:pt x="1992860" y="26452"/>
                  </a:cubicBezTo>
                  <a:lnTo>
                    <a:pt x="1992860" y="1775944"/>
                  </a:lnTo>
                  <a:cubicBezTo>
                    <a:pt x="1992860" y="1790553"/>
                    <a:pt x="1981016" y="1802396"/>
                    <a:pt x="1966407" y="1802396"/>
                  </a:cubicBezTo>
                  <a:lnTo>
                    <a:pt x="26452" y="1802396"/>
                  </a:lnTo>
                  <a:cubicBezTo>
                    <a:pt x="19437" y="1802396"/>
                    <a:pt x="12709" y="1799609"/>
                    <a:pt x="7748" y="1794649"/>
                  </a:cubicBezTo>
                  <a:cubicBezTo>
                    <a:pt x="2787" y="1789688"/>
                    <a:pt x="0" y="1782960"/>
                    <a:pt x="0" y="1775944"/>
                  </a:cubicBezTo>
                  <a:lnTo>
                    <a:pt x="0" y="26452"/>
                  </a:lnTo>
                  <a:cubicBezTo>
                    <a:pt x="0" y="11843"/>
                    <a:pt x="11843" y="0"/>
                    <a:pt x="26452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92860" cy="1821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274890" y="37033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12775" y="1917715"/>
            <a:ext cx="7862450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Incremental hibrida con XP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83216" y="448340"/>
            <a:ext cx="11121569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0"/>
              </a:lnSpc>
            </a:pPr>
            <a:r>
              <a:rPr lang="en-US" b="true" sz="6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9781" y="5903722"/>
            <a:ext cx="5349894" cy="3354578"/>
            <a:chOff x="0" y="0"/>
            <a:chExt cx="1917281" cy="1202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7281" cy="1202205"/>
            </a:xfrm>
            <a:custGeom>
              <a:avLst/>
              <a:gdLst/>
              <a:ahLst/>
              <a:cxnLst/>
              <a:rect r="r" b="b" t="t" l="l"/>
              <a:pathLst>
                <a:path h="1202205" w="1917281">
                  <a:moveTo>
                    <a:pt x="27495" y="0"/>
                  </a:moveTo>
                  <a:lnTo>
                    <a:pt x="1889786" y="0"/>
                  </a:lnTo>
                  <a:cubicBezTo>
                    <a:pt x="1897078" y="0"/>
                    <a:pt x="1904072" y="2897"/>
                    <a:pt x="1909228" y="8053"/>
                  </a:cubicBezTo>
                  <a:cubicBezTo>
                    <a:pt x="1914385" y="13210"/>
                    <a:pt x="1917281" y="20203"/>
                    <a:pt x="1917281" y="27495"/>
                  </a:cubicBezTo>
                  <a:lnTo>
                    <a:pt x="1917281" y="1174710"/>
                  </a:lnTo>
                  <a:cubicBezTo>
                    <a:pt x="1917281" y="1189895"/>
                    <a:pt x="1904971" y="1202205"/>
                    <a:pt x="1889786" y="1202205"/>
                  </a:cubicBezTo>
                  <a:lnTo>
                    <a:pt x="27495" y="1202205"/>
                  </a:lnTo>
                  <a:cubicBezTo>
                    <a:pt x="12310" y="1202205"/>
                    <a:pt x="0" y="1189895"/>
                    <a:pt x="0" y="1174710"/>
                  </a:cubicBezTo>
                  <a:lnTo>
                    <a:pt x="0" y="27495"/>
                  </a:lnTo>
                  <a:cubicBezTo>
                    <a:pt x="0" y="12310"/>
                    <a:pt x="12310" y="0"/>
                    <a:pt x="27495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17281" cy="122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7917" y="4931850"/>
            <a:ext cx="39161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Cama Queen Size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51801" y="840359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5" y="0"/>
                </a:lnTo>
                <a:lnTo>
                  <a:pt x="6725775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37836" y="2139074"/>
            <a:ext cx="5349894" cy="3354578"/>
            <a:chOff x="0" y="0"/>
            <a:chExt cx="1917281" cy="120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7281" cy="1202205"/>
            </a:xfrm>
            <a:custGeom>
              <a:avLst/>
              <a:gdLst/>
              <a:ahLst/>
              <a:cxnLst/>
              <a:rect r="r" b="b" t="t" l="l"/>
              <a:pathLst>
                <a:path h="1202205" w="1917281">
                  <a:moveTo>
                    <a:pt x="27495" y="0"/>
                  </a:moveTo>
                  <a:lnTo>
                    <a:pt x="1889786" y="0"/>
                  </a:lnTo>
                  <a:cubicBezTo>
                    <a:pt x="1897078" y="0"/>
                    <a:pt x="1904072" y="2897"/>
                    <a:pt x="1909228" y="8053"/>
                  </a:cubicBezTo>
                  <a:cubicBezTo>
                    <a:pt x="1914385" y="13210"/>
                    <a:pt x="1917281" y="20203"/>
                    <a:pt x="1917281" y="27495"/>
                  </a:cubicBezTo>
                  <a:lnTo>
                    <a:pt x="1917281" y="1174710"/>
                  </a:lnTo>
                  <a:cubicBezTo>
                    <a:pt x="1917281" y="1189895"/>
                    <a:pt x="1904971" y="1202205"/>
                    <a:pt x="1889786" y="1202205"/>
                  </a:cubicBezTo>
                  <a:lnTo>
                    <a:pt x="27495" y="1202205"/>
                  </a:lnTo>
                  <a:cubicBezTo>
                    <a:pt x="12310" y="1202205"/>
                    <a:pt x="0" y="1189895"/>
                    <a:pt x="0" y="1174710"/>
                  </a:cubicBezTo>
                  <a:lnTo>
                    <a:pt x="0" y="27495"/>
                  </a:lnTo>
                  <a:cubicBezTo>
                    <a:pt x="0" y="12310"/>
                    <a:pt x="12310" y="0"/>
                    <a:pt x="27495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917281" cy="122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12783" y="5903722"/>
            <a:ext cx="5349894" cy="3354578"/>
            <a:chOff x="0" y="0"/>
            <a:chExt cx="1917281" cy="1202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7281" cy="1202205"/>
            </a:xfrm>
            <a:custGeom>
              <a:avLst/>
              <a:gdLst/>
              <a:ahLst/>
              <a:cxnLst/>
              <a:rect r="r" b="b" t="t" l="l"/>
              <a:pathLst>
                <a:path h="1202205" w="1917281">
                  <a:moveTo>
                    <a:pt x="27495" y="0"/>
                  </a:moveTo>
                  <a:lnTo>
                    <a:pt x="1889786" y="0"/>
                  </a:lnTo>
                  <a:cubicBezTo>
                    <a:pt x="1897078" y="0"/>
                    <a:pt x="1904072" y="2897"/>
                    <a:pt x="1909228" y="8053"/>
                  </a:cubicBezTo>
                  <a:cubicBezTo>
                    <a:pt x="1914385" y="13210"/>
                    <a:pt x="1917281" y="20203"/>
                    <a:pt x="1917281" y="27495"/>
                  </a:cubicBezTo>
                  <a:lnTo>
                    <a:pt x="1917281" y="1174710"/>
                  </a:lnTo>
                  <a:cubicBezTo>
                    <a:pt x="1917281" y="1189895"/>
                    <a:pt x="1904971" y="1202205"/>
                    <a:pt x="1889786" y="1202205"/>
                  </a:cubicBezTo>
                  <a:lnTo>
                    <a:pt x="27495" y="1202205"/>
                  </a:lnTo>
                  <a:cubicBezTo>
                    <a:pt x="12310" y="1202205"/>
                    <a:pt x="0" y="1189895"/>
                    <a:pt x="0" y="1174710"/>
                  </a:cubicBezTo>
                  <a:lnTo>
                    <a:pt x="0" y="27495"/>
                  </a:lnTo>
                  <a:cubicBezTo>
                    <a:pt x="0" y="12310"/>
                    <a:pt x="12310" y="0"/>
                    <a:pt x="27495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17281" cy="122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4834" y="2139074"/>
            <a:ext cx="5349894" cy="3354578"/>
            <a:chOff x="0" y="0"/>
            <a:chExt cx="1917281" cy="1202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7281" cy="1202205"/>
            </a:xfrm>
            <a:custGeom>
              <a:avLst/>
              <a:gdLst/>
              <a:ahLst/>
              <a:cxnLst/>
              <a:rect r="r" b="b" t="t" l="l"/>
              <a:pathLst>
                <a:path h="1202205" w="1917281">
                  <a:moveTo>
                    <a:pt x="27495" y="0"/>
                  </a:moveTo>
                  <a:lnTo>
                    <a:pt x="1889786" y="0"/>
                  </a:lnTo>
                  <a:cubicBezTo>
                    <a:pt x="1897078" y="0"/>
                    <a:pt x="1904072" y="2897"/>
                    <a:pt x="1909228" y="8053"/>
                  </a:cubicBezTo>
                  <a:cubicBezTo>
                    <a:pt x="1914385" y="13210"/>
                    <a:pt x="1917281" y="20203"/>
                    <a:pt x="1917281" y="27495"/>
                  </a:cubicBezTo>
                  <a:lnTo>
                    <a:pt x="1917281" y="1174710"/>
                  </a:lnTo>
                  <a:cubicBezTo>
                    <a:pt x="1917281" y="1189895"/>
                    <a:pt x="1904971" y="1202205"/>
                    <a:pt x="1889786" y="1202205"/>
                  </a:cubicBezTo>
                  <a:lnTo>
                    <a:pt x="27495" y="1202205"/>
                  </a:lnTo>
                  <a:cubicBezTo>
                    <a:pt x="12310" y="1202205"/>
                    <a:pt x="0" y="1189895"/>
                    <a:pt x="0" y="1174710"/>
                  </a:cubicBezTo>
                  <a:lnTo>
                    <a:pt x="0" y="27495"/>
                  </a:lnTo>
                  <a:cubicBezTo>
                    <a:pt x="0" y="12310"/>
                    <a:pt x="12310" y="0"/>
                    <a:pt x="27495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17281" cy="122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18981" y="2139074"/>
            <a:ext cx="5349894" cy="3354578"/>
            <a:chOff x="0" y="0"/>
            <a:chExt cx="1917281" cy="12022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7281" cy="1202205"/>
            </a:xfrm>
            <a:custGeom>
              <a:avLst/>
              <a:gdLst/>
              <a:ahLst/>
              <a:cxnLst/>
              <a:rect r="r" b="b" t="t" l="l"/>
              <a:pathLst>
                <a:path h="1202205" w="1917281">
                  <a:moveTo>
                    <a:pt x="27495" y="0"/>
                  </a:moveTo>
                  <a:lnTo>
                    <a:pt x="1889786" y="0"/>
                  </a:lnTo>
                  <a:cubicBezTo>
                    <a:pt x="1897078" y="0"/>
                    <a:pt x="1904072" y="2897"/>
                    <a:pt x="1909228" y="8053"/>
                  </a:cubicBezTo>
                  <a:cubicBezTo>
                    <a:pt x="1914385" y="13210"/>
                    <a:pt x="1917281" y="20203"/>
                    <a:pt x="1917281" y="27495"/>
                  </a:cubicBezTo>
                  <a:lnTo>
                    <a:pt x="1917281" y="1174710"/>
                  </a:lnTo>
                  <a:cubicBezTo>
                    <a:pt x="1917281" y="1189895"/>
                    <a:pt x="1904971" y="1202205"/>
                    <a:pt x="1889786" y="1202205"/>
                  </a:cubicBezTo>
                  <a:lnTo>
                    <a:pt x="27495" y="1202205"/>
                  </a:lnTo>
                  <a:cubicBezTo>
                    <a:pt x="12310" y="1202205"/>
                    <a:pt x="0" y="1189895"/>
                    <a:pt x="0" y="1174710"/>
                  </a:cubicBezTo>
                  <a:lnTo>
                    <a:pt x="0" y="27495"/>
                  </a:lnTo>
                  <a:cubicBezTo>
                    <a:pt x="0" y="12310"/>
                    <a:pt x="12310" y="0"/>
                    <a:pt x="27495" y="0"/>
                  </a:cubicBezTo>
                  <a:close/>
                </a:path>
              </a:pathLst>
            </a:custGeom>
            <a:solidFill>
              <a:srgbClr val="FBB3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917281" cy="122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035241" y="2139074"/>
            <a:ext cx="2621496" cy="2411776"/>
          </a:xfrm>
          <a:custGeom>
            <a:avLst/>
            <a:gdLst/>
            <a:ahLst/>
            <a:cxnLst/>
            <a:rect r="r" b="b" t="t" l="l"/>
            <a:pathLst>
              <a:path h="2411776" w="2621496">
                <a:moveTo>
                  <a:pt x="0" y="0"/>
                </a:moveTo>
                <a:lnTo>
                  <a:pt x="2621496" y="0"/>
                </a:lnTo>
                <a:lnTo>
                  <a:pt x="2621496" y="2411776"/>
                </a:lnTo>
                <a:lnTo>
                  <a:pt x="0" y="241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85412" y="2145284"/>
            <a:ext cx="2702884" cy="2405567"/>
          </a:xfrm>
          <a:custGeom>
            <a:avLst/>
            <a:gdLst/>
            <a:ahLst/>
            <a:cxnLst/>
            <a:rect r="r" b="b" t="t" l="l"/>
            <a:pathLst>
              <a:path h="2405567" w="2702884">
                <a:moveTo>
                  <a:pt x="0" y="0"/>
                </a:moveTo>
                <a:lnTo>
                  <a:pt x="2702884" y="0"/>
                </a:lnTo>
                <a:lnTo>
                  <a:pt x="2702884" y="2405566"/>
                </a:lnTo>
                <a:lnTo>
                  <a:pt x="0" y="2405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537472" y="2162869"/>
            <a:ext cx="2668136" cy="2387981"/>
          </a:xfrm>
          <a:custGeom>
            <a:avLst/>
            <a:gdLst/>
            <a:ahLst/>
            <a:cxnLst/>
            <a:rect r="r" b="b" t="t" l="l"/>
            <a:pathLst>
              <a:path h="2387981" w="2668136">
                <a:moveTo>
                  <a:pt x="0" y="0"/>
                </a:moveTo>
                <a:lnTo>
                  <a:pt x="2668136" y="0"/>
                </a:lnTo>
                <a:lnTo>
                  <a:pt x="2668136" y="2387981"/>
                </a:lnTo>
                <a:lnTo>
                  <a:pt x="0" y="2387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345293" y="5951842"/>
            <a:ext cx="1618870" cy="2130093"/>
          </a:xfrm>
          <a:custGeom>
            <a:avLst/>
            <a:gdLst/>
            <a:ahLst/>
            <a:cxnLst/>
            <a:rect r="r" b="b" t="t" l="l"/>
            <a:pathLst>
              <a:path h="2130093" w="1618870">
                <a:moveTo>
                  <a:pt x="0" y="0"/>
                </a:moveTo>
                <a:lnTo>
                  <a:pt x="1618870" y="0"/>
                </a:lnTo>
                <a:lnTo>
                  <a:pt x="1618870" y="2130093"/>
                </a:lnTo>
                <a:lnTo>
                  <a:pt x="0" y="2130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02555" y="6027260"/>
            <a:ext cx="2460688" cy="2054675"/>
          </a:xfrm>
          <a:custGeom>
            <a:avLst/>
            <a:gdLst/>
            <a:ahLst/>
            <a:cxnLst/>
            <a:rect r="r" b="b" t="t" l="l"/>
            <a:pathLst>
              <a:path h="2054675" w="2460688">
                <a:moveTo>
                  <a:pt x="0" y="0"/>
                </a:moveTo>
                <a:lnTo>
                  <a:pt x="2460688" y="0"/>
                </a:lnTo>
                <a:lnTo>
                  <a:pt x="2460688" y="2054675"/>
                </a:lnTo>
                <a:lnTo>
                  <a:pt x="0" y="2054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04834" y="500125"/>
            <a:ext cx="7832291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Entregables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7917" y="4704715"/>
            <a:ext cx="418372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Historias de usuario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220919" y="4722300"/>
            <a:ext cx="418372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Plan de arquitectura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93602" y="4562107"/>
            <a:ext cx="5200652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Especificación del incremento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54402" y="8234335"/>
            <a:ext cx="5200652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Plan de pruebas del incremento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62025" y="8234335"/>
            <a:ext cx="520065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Manual de usuario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9665" y="1993201"/>
            <a:ext cx="5418851" cy="1002783"/>
            <a:chOff x="0" y="0"/>
            <a:chExt cx="1941994" cy="359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1994" cy="359375"/>
            </a:xfrm>
            <a:custGeom>
              <a:avLst/>
              <a:gdLst/>
              <a:ahLst/>
              <a:cxnLst/>
              <a:rect r="r" b="b" t="t" l="l"/>
              <a:pathLst>
                <a:path h="359375" w="1941994">
                  <a:moveTo>
                    <a:pt x="27145" y="0"/>
                  </a:moveTo>
                  <a:lnTo>
                    <a:pt x="1914849" y="0"/>
                  </a:lnTo>
                  <a:cubicBezTo>
                    <a:pt x="1922048" y="0"/>
                    <a:pt x="1928952" y="2860"/>
                    <a:pt x="1934043" y="7951"/>
                  </a:cubicBezTo>
                  <a:cubicBezTo>
                    <a:pt x="1939134" y="13041"/>
                    <a:pt x="1941994" y="19946"/>
                    <a:pt x="1941994" y="27145"/>
                  </a:cubicBezTo>
                  <a:lnTo>
                    <a:pt x="1941994" y="332230"/>
                  </a:lnTo>
                  <a:cubicBezTo>
                    <a:pt x="1941994" y="339429"/>
                    <a:pt x="1939134" y="346333"/>
                    <a:pt x="1934043" y="351424"/>
                  </a:cubicBezTo>
                  <a:cubicBezTo>
                    <a:pt x="1928952" y="356515"/>
                    <a:pt x="1922048" y="359375"/>
                    <a:pt x="1914849" y="359375"/>
                  </a:cubicBezTo>
                  <a:lnTo>
                    <a:pt x="27145" y="359375"/>
                  </a:lnTo>
                  <a:cubicBezTo>
                    <a:pt x="19946" y="359375"/>
                    <a:pt x="13041" y="356515"/>
                    <a:pt x="7951" y="351424"/>
                  </a:cubicBezTo>
                  <a:cubicBezTo>
                    <a:pt x="2860" y="346333"/>
                    <a:pt x="0" y="339429"/>
                    <a:pt x="0" y="332230"/>
                  </a:cubicBezTo>
                  <a:lnTo>
                    <a:pt x="0" y="27145"/>
                  </a:lnTo>
                  <a:cubicBezTo>
                    <a:pt x="0" y="19946"/>
                    <a:pt x="2860" y="13041"/>
                    <a:pt x="7951" y="7951"/>
                  </a:cubicBezTo>
                  <a:cubicBezTo>
                    <a:pt x="13041" y="2860"/>
                    <a:pt x="19946" y="0"/>
                    <a:pt x="27145" y="0"/>
                  </a:cubicBezTo>
                  <a:close/>
                </a:path>
              </a:pathLst>
            </a:custGeom>
            <a:solidFill>
              <a:srgbClr val="6A795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41994" cy="37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1074" y="3222861"/>
            <a:ext cx="3852010" cy="833636"/>
            <a:chOff x="0" y="0"/>
            <a:chExt cx="1380473" cy="298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0473" cy="298756"/>
            </a:xfrm>
            <a:custGeom>
              <a:avLst/>
              <a:gdLst/>
              <a:ahLst/>
              <a:cxnLst/>
              <a:rect r="r" b="b" t="t" l="l"/>
              <a:pathLst>
                <a:path h="298756" w="1380473">
                  <a:moveTo>
                    <a:pt x="38187" y="0"/>
                  </a:moveTo>
                  <a:lnTo>
                    <a:pt x="1342286" y="0"/>
                  </a:lnTo>
                  <a:cubicBezTo>
                    <a:pt x="1363377" y="0"/>
                    <a:pt x="1380473" y="17097"/>
                    <a:pt x="1380473" y="38187"/>
                  </a:cubicBezTo>
                  <a:lnTo>
                    <a:pt x="1380473" y="260569"/>
                  </a:lnTo>
                  <a:cubicBezTo>
                    <a:pt x="1380473" y="270697"/>
                    <a:pt x="1376450" y="280410"/>
                    <a:pt x="1369289" y="287572"/>
                  </a:cubicBezTo>
                  <a:cubicBezTo>
                    <a:pt x="1362127" y="294733"/>
                    <a:pt x="1352414" y="298756"/>
                    <a:pt x="1342286" y="298756"/>
                  </a:cubicBezTo>
                  <a:lnTo>
                    <a:pt x="38187" y="298756"/>
                  </a:lnTo>
                  <a:cubicBezTo>
                    <a:pt x="17097" y="298756"/>
                    <a:pt x="0" y="281659"/>
                    <a:pt x="0" y="260569"/>
                  </a:cubicBezTo>
                  <a:lnTo>
                    <a:pt x="0" y="38187"/>
                  </a:lnTo>
                  <a:cubicBezTo>
                    <a:pt x="0" y="17097"/>
                    <a:pt x="17097" y="0"/>
                    <a:pt x="3818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380473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49539" y="347916"/>
            <a:ext cx="14298442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0"/>
              </a:lnSpc>
            </a:pPr>
            <a:r>
              <a:rPr lang="en-US" sz="60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EDT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3299" y="1948234"/>
            <a:ext cx="541885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2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Definición y planificación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1074" y="3296589"/>
            <a:ext cx="3763870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Levantamiento de requerimientos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307278" y="7020020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273762" y="2025036"/>
            <a:ext cx="5418851" cy="965509"/>
            <a:chOff x="0" y="0"/>
            <a:chExt cx="1941994" cy="3460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1994" cy="346017"/>
            </a:xfrm>
            <a:custGeom>
              <a:avLst/>
              <a:gdLst/>
              <a:ahLst/>
              <a:cxnLst/>
              <a:rect r="r" b="b" t="t" l="l"/>
              <a:pathLst>
                <a:path h="346017" w="1941994">
                  <a:moveTo>
                    <a:pt x="27145" y="0"/>
                  </a:moveTo>
                  <a:lnTo>
                    <a:pt x="1914849" y="0"/>
                  </a:lnTo>
                  <a:cubicBezTo>
                    <a:pt x="1922048" y="0"/>
                    <a:pt x="1928952" y="2860"/>
                    <a:pt x="1934043" y="7951"/>
                  </a:cubicBezTo>
                  <a:cubicBezTo>
                    <a:pt x="1939134" y="13041"/>
                    <a:pt x="1941994" y="19946"/>
                    <a:pt x="1941994" y="27145"/>
                  </a:cubicBezTo>
                  <a:lnTo>
                    <a:pt x="1941994" y="318871"/>
                  </a:lnTo>
                  <a:cubicBezTo>
                    <a:pt x="1941994" y="326071"/>
                    <a:pt x="1939134" y="332975"/>
                    <a:pt x="1934043" y="338066"/>
                  </a:cubicBezTo>
                  <a:cubicBezTo>
                    <a:pt x="1928952" y="343157"/>
                    <a:pt x="1922048" y="346017"/>
                    <a:pt x="1914849" y="346017"/>
                  </a:cubicBezTo>
                  <a:lnTo>
                    <a:pt x="27145" y="346017"/>
                  </a:lnTo>
                  <a:cubicBezTo>
                    <a:pt x="19946" y="346017"/>
                    <a:pt x="13041" y="343157"/>
                    <a:pt x="7951" y="338066"/>
                  </a:cubicBezTo>
                  <a:cubicBezTo>
                    <a:pt x="2860" y="332975"/>
                    <a:pt x="0" y="326071"/>
                    <a:pt x="0" y="318871"/>
                  </a:cubicBezTo>
                  <a:lnTo>
                    <a:pt x="0" y="27145"/>
                  </a:lnTo>
                  <a:cubicBezTo>
                    <a:pt x="0" y="19946"/>
                    <a:pt x="2860" y="13041"/>
                    <a:pt x="7951" y="7951"/>
                  </a:cubicBezTo>
                  <a:cubicBezTo>
                    <a:pt x="13041" y="2860"/>
                    <a:pt x="19946" y="0"/>
                    <a:pt x="27145" y="0"/>
                  </a:cubicBezTo>
                  <a:close/>
                </a:path>
              </a:pathLst>
            </a:custGeom>
            <a:solidFill>
              <a:srgbClr val="6A795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941994" cy="365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64386" y="1974151"/>
            <a:ext cx="5418851" cy="965509"/>
            <a:chOff x="0" y="0"/>
            <a:chExt cx="1941994" cy="3460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1994" cy="346017"/>
            </a:xfrm>
            <a:custGeom>
              <a:avLst/>
              <a:gdLst/>
              <a:ahLst/>
              <a:cxnLst/>
              <a:rect r="r" b="b" t="t" l="l"/>
              <a:pathLst>
                <a:path h="346017" w="1941994">
                  <a:moveTo>
                    <a:pt x="27145" y="0"/>
                  </a:moveTo>
                  <a:lnTo>
                    <a:pt x="1914849" y="0"/>
                  </a:lnTo>
                  <a:cubicBezTo>
                    <a:pt x="1922048" y="0"/>
                    <a:pt x="1928952" y="2860"/>
                    <a:pt x="1934043" y="7951"/>
                  </a:cubicBezTo>
                  <a:cubicBezTo>
                    <a:pt x="1939134" y="13041"/>
                    <a:pt x="1941994" y="19946"/>
                    <a:pt x="1941994" y="27145"/>
                  </a:cubicBezTo>
                  <a:lnTo>
                    <a:pt x="1941994" y="318871"/>
                  </a:lnTo>
                  <a:cubicBezTo>
                    <a:pt x="1941994" y="326071"/>
                    <a:pt x="1939134" y="332975"/>
                    <a:pt x="1934043" y="338066"/>
                  </a:cubicBezTo>
                  <a:cubicBezTo>
                    <a:pt x="1928952" y="343157"/>
                    <a:pt x="1922048" y="346017"/>
                    <a:pt x="1914849" y="346017"/>
                  </a:cubicBezTo>
                  <a:lnTo>
                    <a:pt x="27145" y="346017"/>
                  </a:lnTo>
                  <a:cubicBezTo>
                    <a:pt x="19946" y="346017"/>
                    <a:pt x="13041" y="343157"/>
                    <a:pt x="7951" y="338066"/>
                  </a:cubicBezTo>
                  <a:cubicBezTo>
                    <a:pt x="2860" y="332975"/>
                    <a:pt x="0" y="326071"/>
                    <a:pt x="0" y="318871"/>
                  </a:cubicBezTo>
                  <a:lnTo>
                    <a:pt x="0" y="27145"/>
                  </a:lnTo>
                  <a:cubicBezTo>
                    <a:pt x="0" y="19946"/>
                    <a:pt x="2860" y="13041"/>
                    <a:pt x="7951" y="7951"/>
                  </a:cubicBezTo>
                  <a:cubicBezTo>
                    <a:pt x="13041" y="2860"/>
                    <a:pt x="19946" y="0"/>
                    <a:pt x="27145" y="0"/>
                  </a:cubicBezTo>
                  <a:close/>
                </a:path>
              </a:pathLst>
            </a:custGeom>
            <a:solidFill>
              <a:srgbClr val="6A795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41994" cy="365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0450" y="7143845"/>
            <a:ext cx="3902634" cy="833636"/>
            <a:chOff x="0" y="0"/>
            <a:chExt cx="1398616" cy="2987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8616" cy="298756"/>
            </a:xfrm>
            <a:custGeom>
              <a:avLst/>
              <a:gdLst/>
              <a:ahLst/>
              <a:cxnLst/>
              <a:rect r="r" b="b" t="t" l="l"/>
              <a:pathLst>
                <a:path h="298756" w="1398616">
                  <a:moveTo>
                    <a:pt x="37692" y="0"/>
                  </a:moveTo>
                  <a:lnTo>
                    <a:pt x="1360924" y="0"/>
                  </a:lnTo>
                  <a:cubicBezTo>
                    <a:pt x="1381741" y="0"/>
                    <a:pt x="1398616" y="16875"/>
                    <a:pt x="1398616" y="37692"/>
                  </a:cubicBezTo>
                  <a:lnTo>
                    <a:pt x="1398616" y="261065"/>
                  </a:lnTo>
                  <a:cubicBezTo>
                    <a:pt x="1398616" y="271061"/>
                    <a:pt x="1394645" y="280648"/>
                    <a:pt x="1387576" y="287717"/>
                  </a:cubicBezTo>
                  <a:cubicBezTo>
                    <a:pt x="1380508" y="294785"/>
                    <a:pt x="1370921" y="298756"/>
                    <a:pt x="1360924" y="298756"/>
                  </a:cubicBezTo>
                  <a:lnTo>
                    <a:pt x="37692" y="298756"/>
                  </a:lnTo>
                  <a:cubicBezTo>
                    <a:pt x="16875" y="298756"/>
                    <a:pt x="0" y="281881"/>
                    <a:pt x="0" y="261065"/>
                  </a:cubicBezTo>
                  <a:lnTo>
                    <a:pt x="0" y="37692"/>
                  </a:lnTo>
                  <a:cubicBezTo>
                    <a:pt x="0" y="16875"/>
                    <a:pt x="16875" y="0"/>
                    <a:pt x="37692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98616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96396" y="5209873"/>
            <a:ext cx="3866688" cy="833636"/>
            <a:chOff x="0" y="0"/>
            <a:chExt cx="1385734" cy="2987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5734" cy="298756"/>
            </a:xfrm>
            <a:custGeom>
              <a:avLst/>
              <a:gdLst/>
              <a:ahLst/>
              <a:cxnLst/>
              <a:rect r="r" b="b" t="t" l="l"/>
              <a:pathLst>
                <a:path h="298756" w="1385734">
                  <a:moveTo>
                    <a:pt x="38042" y="0"/>
                  </a:moveTo>
                  <a:lnTo>
                    <a:pt x="1347692" y="0"/>
                  </a:lnTo>
                  <a:cubicBezTo>
                    <a:pt x="1357781" y="0"/>
                    <a:pt x="1367457" y="4008"/>
                    <a:pt x="1374591" y="11142"/>
                  </a:cubicBezTo>
                  <a:cubicBezTo>
                    <a:pt x="1381726" y="18276"/>
                    <a:pt x="1385734" y="27953"/>
                    <a:pt x="1385734" y="38042"/>
                  </a:cubicBezTo>
                  <a:lnTo>
                    <a:pt x="1385734" y="260714"/>
                  </a:lnTo>
                  <a:cubicBezTo>
                    <a:pt x="1385734" y="270804"/>
                    <a:pt x="1381726" y="280480"/>
                    <a:pt x="1374591" y="287614"/>
                  </a:cubicBezTo>
                  <a:cubicBezTo>
                    <a:pt x="1367457" y="294748"/>
                    <a:pt x="1357781" y="298756"/>
                    <a:pt x="1347692" y="298756"/>
                  </a:cubicBezTo>
                  <a:lnTo>
                    <a:pt x="38042" y="298756"/>
                  </a:lnTo>
                  <a:cubicBezTo>
                    <a:pt x="27953" y="298756"/>
                    <a:pt x="18276" y="294748"/>
                    <a:pt x="11142" y="287614"/>
                  </a:cubicBezTo>
                  <a:cubicBezTo>
                    <a:pt x="4008" y="280480"/>
                    <a:pt x="0" y="270804"/>
                    <a:pt x="0" y="260714"/>
                  </a:cubicBezTo>
                  <a:lnTo>
                    <a:pt x="0" y="38042"/>
                  </a:lnTo>
                  <a:cubicBezTo>
                    <a:pt x="0" y="27953"/>
                    <a:pt x="4008" y="18276"/>
                    <a:pt x="11142" y="11142"/>
                  </a:cubicBezTo>
                  <a:cubicBezTo>
                    <a:pt x="18276" y="4008"/>
                    <a:pt x="27953" y="0"/>
                    <a:pt x="38042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385734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1074" y="4172883"/>
            <a:ext cx="3852010" cy="833636"/>
            <a:chOff x="0" y="0"/>
            <a:chExt cx="1380473" cy="2987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80473" cy="298756"/>
            </a:xfrm>
            <a:custGeom>
              <a:avLst/>
              <a:gdLst/>
              <a:ahLst/>
              <a:cxnLst/>
              <a:rect r="r" b="b" t="t" l="l"/>
              <a:pathLst>
                <a:path h="298756" w="1380473">
                  <a:moveTo>
                    <a:pt x="38187" y="0"/>
                  </a:moveTo>
                  <a:lnTo>
                    <a:pt x="1342286" y="0"/>
                  </a:lnTo>
                  <a:cubicBezTo>
                    <a:pt x="1363377" y="0"/>
                    <a:pt x="1380473" y="17097"/>
                    <a:pt x="1380473" y="38187"/>
                  </a:cubicBezTo>
                  <a:lnTo>
                    <a:pt x="1380473" y="260569"/>
                  </a:lnTo>
                  <a:cubicBezTo>
                    <a:pt x="1380473" y="270697"/>
                    <a:pt x="1376450" y="280410"/>
                    <a:pt x="1369289" y="287572"/>
                  </a:cubicBezTo>
                  <a:cubicBezTo>
                    <a:pt x="1362127" y="294733"/>
                    <a:pt x="1352414" y="298756"/>
                    <a:pt x="1342286" y="298756"/>
                  </a:cubicBezTo>
                  <a:lnTo>
                    <a:pt x="38187" y="298756"/>
                  </a:lnTo>
                  <a:cubicBezTo>
                    <a:pt x="17097" y="298756"/>
                    <a:pt x="0" y="281659"/>
                    <a:pt x="0" y="260569"/>
                  </a:cubicBezTo>
                  <a:lnTo>
                    <a:pt x="0" y="38187"/>
                  </a:lnTo>
                  <a:cubicBezTo>
                    <a:pt x="0" y="17097"/>
                    <a:pt x="17097" y="0"/>
                    <a:pt x="3818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380473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96396" y="6186384"/>
            <a:ext cx="3866688" cy="833636"/>
            <a:chOff x="0" y="0"/>
            <a:chExt cx="1385734" cy="2987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85734" cy="298756"/>
            </a:xfrm>
            <a:custGeom>
              <a:avLst/>
              <a:gdLst/>
              <a:ahLst/>
              <a:cxnLst/>
              <a:rect r="r" b="b" t="t" l="l"/>
              <a:pathLst>
                <a:path h="298756" w="1385734">
                  <a:moveTo>
                    <a:pt x="38042" y="0"/>
                  </a:moveTo>
                  <a:lnTo>
                    <a:pt x="1347692" y="0"/>
                  </a:lnTo>
                  <a:cubicBezTo>
                    <a:pt x="1357781" y="0"/>
                    <a:pt x="1367457" y="4008"/>
                    <a:pt x="1374591" y="11142"/>
                  </a:cubicBezTo>
                  <a:cubicBezTo>
                    <a:pt x="1381726" y="18276"/>
                    <a:pt x="1385734" y="27953"/>
                    <a:pt x="1385734" y="38042"/>
                  </a:cubicBezTo>
                  <a:lnTo>
                    <a:pt x="1385734" y="260714"/>
                  </a:lnTo>
                  <a:cubicBezTo>
                    <a:pt x="1385734" y="270804"/>
                    <a:pt x="1381726" y="280480"/>
                    <a:pt x="1374591" y="287614"/>
                  </a:cubicBezTo>
                  <a:cubicBezTo>
                    <a:pt x="1367457" y="294748"/>
                    <a:pt x="1357781" y="298756"/>
                    <a:pt x="1347692" y="298756"/>
                  </a:cubicBezTo>
                  <a:lnTo>
                    <a:pt x="38042" y="298756"/>
                  </a:lnTo>
                  <a:cubicBezTo>
                    <a:pt x="27953" y="298756"/>
                    <a:pt x="18276" y="294748"/>
                    <a:pt x="11142" y="287614"/>
                  </a:cubicBezTo>
                  <a:cubicBezTo>
                    <a:pt x="4008" y="280480"/>
                    <a:pt x="0" y="270804"/>
                    <a:pt x="0" y="260714"/>
                  </a:cubicBezTo>
                  <a:lnTo>
                    <a:pt x="0" y="38042"/>
                  </a:lnTo>
                  <a:cubicBezTo>
                    <a:pt x="0" y="27953"/>
                    <a:pt x="4008" y="18276"/>
                    <a:pt x="11142" y="11142"/>
                  </a:cubicBezTo>
                  <a:cubicBezTo>
                    <a:pt x="18276" y="4008"/>
                    <a:pt x="27953" y="0"/>
                    <a:pt x="38042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385734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0450" y="8082256"/>
            <a:ext cx="3902634" cy="833636"/>
            <a:chOff x="0" y="0"/>
            <a:chExt cx="1398616" cy="2987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98616" cy="298756"/>
            </a:xfrm>
            <a:custGeom>
              <a:avLst/>
              <a:gdLst/>
              <a:ahLst/>
              <a:cxnLst/>
              <a:rect r="r" b="b" t="t" l="l"/>
              <a:pathLst>
                <a:path h="298756" w="1398616">
                  <a:moveTo>
                    <a:pt x="37692" y="0"/>
                  </a:moveTo>
                  <a:lnTo>
                    <a:pt x="1360924" y="0"/>
                  </a:lnTo>
                  <a:cubicBezTo>
                    <a:pt x="1381741" y="0"/>
                    <a:pt x="1398616" y="16875"/>
                    <a:pt x="1398616" y="37692"/>
                  </a:cubicBezTo>
                  <a:lnTo>
                    <a:pt x="1398616" y="261065"/>
                  </a:lnTo>
                  <a:cubicBezTo>
                    <a:pt x="1398616" y="271061"/>
                    <a:pt x="1394645" y="280648"/>
                    <a:pt x="1387576" y="287717"/>
                  </a:cubicBezTo>
                  <a:cubicBezTo>
                    <a:pt x="1380508" y="294785"/>
                    <a:pt x="1370921" y="298756"/>
                    <a:pt x="1360924" y="298756"/>
                  </a:cubicBezTo>
                  <a:lnTo>
                    <a:pt x="37692" y="298756"/>
                  </a:lnTo>
                  <a:cubicBezTo>
                    <a:pt x="16875" y="298756"/>
                    <a:pt x="0" y="281881"/>
                    <a:pt x="0" y="261065"/>
                  </a:cubicBezTo>
                  <a:lnTo>
                    <a:pt x="0" y="37692"/>
                  </a:lnTo>
                  <a:cubicBezTo>
                    <a:pt x="0" y="16875"/>
                    <a:pt x="16875" y="0"/>
                    <a:pt x="37692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398616" cy="317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4555" y="9046507"/>
            <a:ext cx="3836908" cy="805061"/>
            <a:chOff x="0" y="0"/>
            <a:chExt cx="1375061" cy="2885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448862" y="2171156"/>
            <a:ext cx="541885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2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Desarrollo del sistema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73762" y="2222041"/>
            <a:ext cx="541885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20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Cierre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78451" y="4312243"/>
            <a:ext cx="2735164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Estudio de mercado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78451" y="5264235"/>
            <a:ext cx="3117255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Definición del alcance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78451" y="6258528"/>
            <a:ext cx="3117255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Selección de tecnologías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1901" y="7189442"/>
            <a:ext cx="3587538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Product backlog priorizado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14079" y="8101306"/>
            <a:ext cx="3117255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Arquitectura inicial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10463" y="9096867"/>
            <a:ext cx="3117255" cy="69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spc="14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Planificación de incrementos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425376" y="3222861"/>
            <a:ext cx="3836908" cy="805061"/>
            <a:chOff x="0" y="0"/>
            <a:chExt cx="1375061" cy="2885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7785203" y="3235646"/>
            <a:ext cx="3117255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1 (sitio web e información)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193184" y="3222861"/>
            <a:ext cx="3836908" cy="805061"/>
            <a:chOff x="0" y="0"/>
            <a:chExt cx="1375061" cy="2885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25376" y="4248044"/>
            <a:ext cx="3836908" cy="805061"/>
            <a:chOff x="0" y="0"/>
            <a:chExt cx="1375061" cy="2885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03112" y="6268053"/>
            <a:ext cx="3836908" cy="805061"/>
            <a:chOff x="0" y="0"/>
            <a:chExt cx="1375061" cy="2885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425376" y="5273760"/>
            <a:ext cx="3836908" cy="805061"/>
            <a:chOff x="0" y="0"/>
            <a:chExt cx="1375061" cy="2885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425376" y="7339814"/>
            <a:ext cx="3836908" cy="805061"/>
            <a:chOff x="0" y="0"/>
            <a:chExt cx="1375061" cy="2885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403112" y="8335375"/>
            <a:ext cx="3836908" cy="805061"/>
            <a:chOff x="0" y="0"/>
            <a:chExt cx="1375061" cy="2885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7403112" y="4339388"/>
            <a:ext cx="3881436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2 (sistema de usuarios)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425376" y="5319805"/>
            <a:ext cx="3881436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3 (Sistema de reservas)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380849" y="6286214"/>
            <a:ext cx="3881436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4 (sistema de pagos)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425376" y="7387439"/>
            <a:ext cx="3881436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5 (sistema de administración)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58585" y="8354425"/>
            <a:ext cx="3881436" cy="66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100" spc="1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Incremento 6 (integración + pruebas )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3193184" y="4279948"/>
            <a:ext cx="3836908" cy="805061"/>
            <a:chOff x="0" y="0"/>
            <a:chExt cx="1375061" cy="2885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193184" y="5338855"/>
            <a:ext cx="3836908" cy="805061"/>
            <a:chOff x="0" y="0"/>
            <a:chExt cx="1375061" cy="2885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75061" cy="288516"/>
            </a:xfrm>
            <a:custGeom>
              <a:avLst/>
              <a:gdLst/>
              <a:ahLst/>
              <a:cxnLst/>
              <a:rect r="r" b="b" t="t" l="l"/>
              <a:pathLst>
                <a:path h="288516" w="1375061">
                  <a:moveTo>
                    <a:pt x="38337" y="0"/>
                  </a:moveTo>
                  <a:lnTo>
                    <a:pt x="1336724" y="0"/>
                  </a:lnTo>
                  <a:cubicBezTo>
                    <a:pt x="1346892" y="0"/>
                    <a:pt x="1356643" y="4039"/>
                    <a:pt x="1363833" y="11229"/>
                  </a:cubicBezTo>
                  <a:cubicBezTo>
                    <a:pt x="1371022" y="18418"/>
                    <a:pt x="1375061" y="28170"/>
                    <a:pt x="1375061" y="38337"/>
                  </a:cubicBezTo>
                  <a:lnTo>
                    <a:pt x="1375061" y="250178"/>
                  </a:lnTo>
                  <a:cubicBezTo>
                    <a:pt x="1375061" y="260346"/>
                    <a:pt x="1371022" y="270097"/>
                    <a:pt x="1363833" y="277287"/>
                  </a:cubicBezTo>
                  <a:cubicBezTo>
                    <a:pt x="1356643" y="284477"/>
                    <a:pt x="1346892" y="288516"/>
                    <a:pt x="1336724" y="288516"/>
                  </a:cubicBezTo>
                  <a:lnTo>
                    <a:pt x="38337" y="288516"/>
                  </a:lnTo>
                  <a:cubicBezTo>
                    <a:pt x="28170" y="288516"/>
                    <a:pt x="18418" y="284477"/>
                    <a:pt x="11229" y="277287"/>
                  </a:cubicBezTo>
                  <a:cubicBezTo>
                    <a:pt x="4039" y="270097"/>
                    <a:pt x="0" y="260346"/>
                    <a:pt x="0" y="250178"/>
                  </a:cubicBezTo>
                  <a:lnTo>
                    <a:pt x="0" y="38337"/>
                  </a:lnTo>
                  <a:cubicBezTo>
                    <a:pt x="0" y="28170"/>
                    <a:pt x="4039" y="18418"/>
                    <a:pt x="11229" y="11229"/>
                  </a:cubicBezTo>
                  <a:cubicBezTo>
                    <a:pt x="18418" y="4039"/>
                    <a:pt x="28170" y="0"/>
                    <a:pt x="38337" y="0"/>
                  </a:cubicBezTo>
                  <a:close/>
                </a:path>
              </a:pathLst>
            </a:custGeom>
            <a:solidFill>
              <a:srgbClr val="C8853E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375061" cy="30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3552910" y="3470906"/>
            <a:ext cx="3117255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spc="1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Preparación final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289262" y="4334820"/>
            <a:ext cx="3644550" cy="75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spc="1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Entrega de proyecto finalizado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421237" y="5486933"/>
            <a:ext cx="3380803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400" spc="1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Presentación final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144000" y="5565679"/>
            <a:ext cx="130953" cy="213800"/>
          </a:xfrm>
          <a:custGeom>
            <a:avLst/>
            <a:gdLst/>
            <a:ahLst/>
            <a:cxnLst/>
            <a:rect r="r" b="b" t="t" l="l"/>
            <a:pathLst>
              <a:path h="213800" w="130953">
                <a:moveTo>
                  <a:pt x="0" y="0"/>
                </a:moveTo>
                <a:lnTo>
                  <a:pt x="130953" y="0"/>
                </a:lnTo>
                <a:lnTo>
                  <a:pt x="130953" y="213800"/>
                </a:lnTo>
                <a:lnTo>
                  <a:pt x="0" y="213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71742" y="1179767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0150" y="3146697"/>
            <a:ext cx="2746695" cy="3051883"/>
          </a:xfrm>
          <a:custGeom>
            <a:avLst/>
            <a:gdLst/>
            <a:ahLst/>
            <a:cxnLst/>
            <a:rect r="r" b="b" t="t" l="l"/>
            <a:pathLst>
              <a:path h="3051883" w="2746695">
                <a:moveTo>
                  <a:pt x="0" y="0"/>
                </a:moveTo>
                <a:lnTo>
                  <a:pt x="2746695" y="0"/>
                </a:lnTo>
                <a:lnTo>
                  <a:pt x="2746695" y="3051883"/>
                </a:lnTo>
                <a:lnTo>
                  <a:pt x="0" y="30518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9473" y="3286195"/>
            <a:ext cx="2870643" cy="3021729"/>
          </a:xfrm>
          <a:custGeom>
            <a:avLst/>
            <a:gdLst/>
            <a:ahLst/>
            <a:cxnLst/>
            <a:rect r="r" b="b" t="t" l="l"/>
            <a:pathLst>
              <a:path h="3021729" w="2870643">
                <a:moveTo>
                  <a:pt x="0" y="0"/>
                </a:moveTo>
                <a:lnTo>
                  <a:pt x="2870643" y="0"/>
                </a:lnTo>
                <a:lnTo>
                  <a:pt x="2870643" y="3021729"/>
                </a:lnTo>
                <a:lnTo>
                  <a:pt x="0" y="30217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98580"/>
            <a:ext cx="5055978" cy="1355950"/>
            <a:chOff x="0" y="0"/>
            <a:chExt cx="1811948" cy="4859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1949" cy="485942"/>
            </a:xfrm>
            <a:custGeom>
              <a:avLst/>
              <a:gdLst/>
              <a:ahLst/>
              <a:cxnLst/>
              <a:rect r="r" b="b" t="t" l="l"/>
              <a:pathLst>
                <a:path h="485942" w="1811949">
                  <a:moveTo>
                    <a:pt x="29094" y="0"/>
                  </a:moveTo>
                  <a:lnTo>
                    <a:pt x="1782855" y="0"/>
                  </a:lnTo>
                  <a:cubicBezTo>
                    <a:pt x="1798923" y="0"/>
                    <a:pt x="1811949" y="13026"/>
                    <a:pt x="1811949" y="29094"/>
                  </a:cubicBezTo>
                  <a:lnTo>
                    <a:pt x="1811949" y="456848"/>
                  </a:lnTo>
                  <a:cubicBezTo>
                    <a:pt x="1811949" y="464564"/>
                    <a:pt x="1808883" y="471964"/>
                    <a:pt x="1803427" y="477420"/>
                  </a:cubicBezTo>
                  <a:cubicBezTo>
                    <a:pt x="1797971" y="482877"/>
                    <a:pt x="1790571" y="485942"/>
                    <a:pt x="1782855" y="485942"/>
                  </a:cubicBezTo>
                  <a:lnTo>
                    <a:pt x="29094" y="485942"/>
                  </a:lnTo>
                  <a:cubicBezTo>
                    <a:pt x="13026" y="485942"/>
                    <a:pt x="0" y="472916"/>
                    <a:pt x="0" y="456848"/>
                  </a:cubicBezTo>
                  <a:lnTo>
                    <a:pt x="0" y="29094"/>
                  </a:lnTo>
                  <a:cubicBezTo>
                    <a:pt x="0" y="21377"/>
                    <a:pt x="3065" y="13977"/>
                    <a:pt x="8521" y="8521"/>
                  </a:cubicBezTo>
                  <a:cubicBezTo>
                    <a:pt x="13977" y="3065"/>
                    <a:pt x="21377" y="0"/>
                    <a:pt x="29094" y="0"/>
                  </a:cubicBezTo>
                  <a:close/>
                </a:path>
              </a:pathLst>
            </a:custGeom>
            <a:solidFill>
              <a:srgbClr val="0D7C0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11948" cy="504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52282" y="6198580"/>
            <a:ext cx="5055978" cy="1355950"/>
            <a:chOff x="0" y="0"/>
            <a:chExt cx="1811948" cy="4859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1949" cy="485942"/>
            </a:xfrm>
            <a:custGeom>
              <a:avLst/>
              <a:gdLst/>
              <a:ahLst/>
              <a:cxnLst/>
              <a:rect r="r" b="b" t="t" l="l"/>
              <a:pathLst>
                <a:path h="485942" w="1811949">
                  <a:moveTo>
                    <a:pt x="29094" y="0"/>
                  </a:moveTo>
                  <a:lnTo>
                    <a:pt x="1782855" y="0"/>
                  </a:lnTo>
                  <a:cubicBezTo>
                    <a:pt x="1798923" y="0"/>
                    <a:pt x="1811949" y="13026"/>
                    <a:pt x="1811949" y="29094"/>
                  </a:cubicBezTo>
                  <a:lnTo>
                    <a:pt x="1811949" y="456848"/>
                  </a:lnTo>
                  <a:cubicBezTo>
                    <a:pt x="1811949" y="464564"/>
                    <a:pt x="1808883" y="471964"/>
                    <a:pt x="1803427" y="477420"/>
                  </a:cubicBezTo>
                  <a:cubicBezTo>
                    <a:pt x="1797971" y="482877"/>
                    <a:pt x="1790571" y="485942"/>
                    <a:pt x="1782855" y="485942"/>
                  </a:cubicBezTo>
                  <a:lnTo>
                    <a:pt x="29094" y="485942"/>
                  </a:lnTo>
                  <a:cubicBezTo>
                    <a:pt x="13026" y="485942"/>
                    <a:pt x="0" y="472916"/>
                    <a:pt x="0" y="456848"/>
                  </a:cubicBezTo>
                  <a:lnTo>
                    <a:pt x="0" y="29094"/>
                  </a:lnTo>
                  <a:cubicBezTo>
                    <a:pt x="0" y="21377"/>
                    <a:pt x="3065" y="13977"/>
                    <a:pt x="8521" y="8521"/>
                  </a:cubicBezTo>
                  <a:cubicBezTo>
                    <a:pt x="13977" y="3065"/>
                    <a:pt x="21377" y="0"/>
                    <a:pt x="29094" y="0"/>
                  </a:cubicBezTo>
                  <a:close/>
                </a:path>
              </a:pathLst>
            </a:custGeom>
            <a:solidFill>
              <a:srgbClr val="0D7C0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11948" cy="504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098985" y="3657608"/>
            <a:ext cx="3191408" cy="2569084"/>
          </a:xfrm>
          <a:custGeom>
            <a:avLst/>
            <a:gdLst/>
            <a:ahLst/>
            <a:cxnLst/>
            <a:rect r="r" b="b" t="t" l="l"/>
            <a:pathLst>
              <a:path h="2569084" w="3191408">
                <a:moveTo>
                  <a:pt x="0" y="0"/>
                </a:moveTo>
                <a:lnTo>
                  <a:pt x="3191408" y="0"/>
                </a:lnTo>
                <a:lnTo>
                  <a:pt x="3191408" y="2569083"/>
                </a:lnTo>
                <a:lnTo>
                  <a:pt x="0" y="25690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64125" y="990600"/>
            <a:ext cx="7832291" cy="94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0"/>
              </a:lnSpc>
            </a:pPr>
            <a:r>
              <a:rPr lang="en-US" sz="6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977" y="6407629"/>
            <a:ext cx="463542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Definición</a:t>
            </a: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clara del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97082" y="6359665"/>
            <a:ext cx="463542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Solu</a:t>
            </a: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ción</a:t>
            </a: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 una necesidad real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79810" y="6117801"/>
            <a:ext cx="5055978" cy="1355950"/>
            <a:chOff x="0" y="0"/>
            <a:chExt cx="1811948" cy="4859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1949" cy="485942"/>
            </a:xfrm>
            <a:custGeom>
              <a:avLst/>
              <a:gdLst/>
              <a:ahLst/>
              <a:cxnLst/>
              <a:rect r="r" b="b" t="t" l="l"/>
              <a:pathLst>
                <a:path h="485942" w="1811949">
                  <a:moveTo>
                    <a:pt x="29094" y="0"/>
                  </a:moveTo>
                  <a:lnTo>
                    <a:pt x="1782855" y="0"/>
                  </a:lnTo>
                  <a:cubicBezTo>
                    <a:pt x="1798923" y="0"/>
                    <a:pt x="1811949" y="13026"/>
                    <a:pt x="1811949" y="29094"/>
                  </a:cubicBezTo>
                  <a:lnTo>
                    <a:pt x="1811949" y="456848"/>
                  </a:lnTo>
                  <a:cubicBezTo>
                    <a:pt x="1811949" y="464564"/>
                    <a:pt x="1808883" y="471964"/>
                    <a:pt x="1803427" y="477420"/>
                  </a:cubicBezTo>
                  <a:cubicBezTo>
                    <a:pt x="1797971" y="482877"/>
                    <a:pt x="1790571" y="485942"/>
                    <a:pt x="1782855" y="485942"/>
                  </a:cubicBezTo>
                  <a:lnTo>
                    <a:pt x="29094" y="485942"/>
                  </a:lnTo>
                  <a:cubicBezTo>
                    <a:pt x="13026" y="485942"/>
                    <a:pt x="0" y="472916"/>
                    <a:pt x="0" y="456848"/>
                  </a:cubicBezTo>
                  <a:lnTo>
                    <a:pt x="0" y="29094"/>
                  </a:lnTo>
                  <a:cubicBezTo>
                    <a:pt x="0" y="21377"/>
                    <a:pt x="3065" y="13977"/>
                    <a:pt x="8521" y="8521"/>
                  </a:cubicBezTo>
                  <a:cubicBezTo>
                    <a:pt x="13977" y="3065"/>
                    <a:pt x="21377" y="0"/>
                    <a:pt x="29094" y="0"/>
                  </a:cubicBezTo>
                  <a:close/>
                </a:path>
              </a:pathLst>
            </a:custGeom>
            <a:solidFill>
              <a:srgbClr val="0D7C0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11948" cy="504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224610" y="6278886"/>
            <a:ext cx="463542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Atra</a:t>
            </a: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ctivo</a:t>
            </a: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para los clientes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8287" y="3855282"/>
            <a:ext cx="985429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5"/>
              </a:lnSpc>
            </a:pPr>
            <a:r>
              <a:rPr lang="en-US" b="true" sz="7500" spc="757">
                <a:solidFill>
                  <a:srgbClr val="022137"/>
                </a:solidFill>
                <a:latin typeface="Garet Bold"/>
                <a:ea typeface="Garet Bold"/>
                <a:cs typeface="Garet Bold"/>
                <a:sym typeface="Garet Bold"/>
              </a:rPr>
              <a:t>GRACIAS POR SU ATENCIÓN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96649" y="8432578"/>
            <a:ext cx="18704169" cy="1957666"/>
            <a:chOff x="0" y="0"/>
            <a:chExt cx="4926201" cy="5155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26201" cy="515599"/>
            </a:xfrm>
            <a:custGeom>
              <a:avLst/>
              <a:gdLst/>
              <a:ahLst/>
              <a:cxnLst/>
              <a:rect r="r" b="b" t="t" l="l"/>
              <a:pathLst>
                <a:path h="515599" w="4926201">
                  <a:moveTo>
                    <a:pt x="0" y="0"/>
                  </a:moveTo>
                  <a:lnTo>
                    <a:pt x="4926201" y="0"/>
                  </a:lnTo>
                  <a:lnTo>
                    <a:pt x="4926201" y="515599"/>
                  </a:lnTo>
                  <a:lnTo>
                    <a:pt x="0" y="515599"/>
                  </a:lnTo>
                  <a:close/>
                </a:path>
              </a:pathLst>
            </a:custGeom>
            <a:solidFill>
              <a:srgbClr val="4A573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26201" cy="553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54238" y="-19599"/>
            <a:ext cx="2579524" cy="3491020"/>
            <a:chOff x="0" y="0"/>
            <a:chExt cx="660400" cy="893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893758"/>
            </a:xfrm>
            <a:custGeom>
              <a:avLst/>
              <a:gdLst/>
              <a:ahLst/>
              <a:cxnLst/>
              <a:rect r="r" b="b" t="t" l="l"/>
              <a:pathLst>
                <a:path h="893758" w="660400">
                  <a:moveTo>
                    <a:pt x="220252" y="874688"/>
                  </a:moveTo>
                  <a:cubicBezTo>
                    <a:pt x="254109" y="886202"/>
                    <a:pt x="292600" y="893758"/>
                    <a:pt x="330378" y="893758"/>
                  </a:cubicBezTo>
                  <a:cubicBezTo>
                    <a:pt x="368157" y="893758"/>
                    <a:pt x="404509" y="887281"/>
                    <a:pt x="438009" y="875767"/>
                  </a:cubicBezTo>
                  <a:cubicBezTo>
                    <a:pt x="438723" y="875407"/>
                    <a:pt x="439435" y="875407"/>
                    <a:pt x="440148" y="875048"/>
                  </a:cubicBezTo>
                  <a:cubicBezTo>
                    <a:pt x="565955" y="828993"/>
                    <a:pt x="658618" y="707379"/>
                    <a:pt x="660400" y="56345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63039"/>
                  </a:lnTo>
                  <a:cubicBezTo>
                    <a:pt x="1782" y="708097"/>
                    <a:pt x="93019" y="829713"/>
                    <a:pt x="220252" y="874688"/>
                  </a:cubicBezTo>
                  <a:close/>
                </a:path>
              </a:pathLst>
            </a:custGeom>
            <a:solidFill>
              <a:srgbClr val="4A573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60400" cy="795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95993" y="1026454"/>
            <a:ext cx="1096015" cy="699457"/>
          </a:xfrm>
          <a:custGeom>
            <a:avLst/>
            <a:gdLst/>
            <a:ahLst/>
            <a:cxnLst/>
            <a:rect r="r" b="b" t="t" l="l"/>
            <a:pathLst>
              <a:path h="699457" w="1096015">
                <a:moveTo>
                  <a:pt x="0" y="0"/>
                </a:moveTo>
                <a:lnTo>
                  <a:pt x="1096014" y="0"/>
                </a:lnTo>
                <a:lnTo>
                  <a:pt x="1096014" y="699457"/>
                </a:lnTo>
                <a:lnTo>
                  <a:pt x="0" y="69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38268" y="1980864"/>
            <a:ext cx="2211464" cy="39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2509" spc="21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PIRQUE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855444" y="1376182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188746" y="5764711"/>
            <a:ext cx="6725774" cy="606551"/>
          </a:xfrm>
          <a:custGeom>
            <a:avLst/>
            <a:gdLst/>
            <a:ahLst/>
            <a:cxnLst/>
            <a:rect r="r" b="b" t="t" l="l"/>
            <a:pathLst>
              <a:path h="606551" w="6725774">
                <a:moveTo>
                  <a:pt x="0" y="0"/>
                </a:moveTo>
                <a:lnTo>
                  <a:pt x="6725774" y="0"/>
                </a:lnTo>
                <a:lnTo>
                  <a:pt x="6725774" y="606550"/>
                </a:lnTo>
                <a:lnTo>
                  <a:pt x="0" y="606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DAHUpCU2H8k</dc:identifier>
  <dcterms:modified xsi:type="dcterms:W3CDTF">2011-08-01T06:04:30Z</dcterms:modified>
  <cp:revision>1</cp:revision>
  <dc:title>Presentación propuesta hospedaje glamping moderno verde y naranja</dc:title>
</cp:coreProperties>
</file>